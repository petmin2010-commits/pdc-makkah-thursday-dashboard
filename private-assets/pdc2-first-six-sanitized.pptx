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304" r:id="rId3"/>
    <p:sldId id="305" r:id="rId4"/>
    <p:sldId id="300" r:id="rId5"/>
    <p:sldId id="285" r:id="rId6"/>
    <p:sldId id="16777464" r:id="rId7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E60"/>
    <a:srgbClr val="CB9F17"/>
    <a:srgbClr val="CAA018"/>
    <a:srgbClr val="99FF99"/>
    <a:srgbClr val="72B94E"/>
    <a:srgbClr val="92D050"/>
    <a:srgbClr val="BB5D5B"/>
    <a:srgbClr val="FF0303"/>
    <a:srgbClr val="7C7C7C"/>
    <a:srgbClr val="307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88278" autoAdjust="0"/>
  </p:normalViewPr>
  <p:slideViewPr>
    <p:cSldViewPr snapToGrid="0" snapToObjects="1">
      <p:cViewPr>
        <p:scale>
          <a:sx n="125" d="100"/>
          <a:sy n="125" d="100"/>
        </p:scale>
        <p:origin x="-821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49" Type="http://schemas.openxmlformats.org/officeDocument/2006/relationships/theme" Target="theme/theme1.xml"/><Relationship Id="rId4" Type="http://schemas.openxmlformats.org/officeDocument/2006/relationships/slide" Target="slides/slide3.xml"/><Relationship Id="rId48" Type="http://schemas.openxmlformats.org/officeDocument/2006/relationships/viewProps" Target="viewProps.xml"/><Relationship Id="rId3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/Relationships>
</file>

<file path=ppt/charts/_rels/chart2.xml.rels><?xml version="1.0" encoding="UTF-8" standalone="yes"?>
<Relationships xmlns="http://schemas.openxmlformats.org/package/2006/relationships"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/Relationships>
</file>

<file path=ppt/charts/_rels/chart6.xml.rels><?xml version="1.0" encoding="UTF-8" standalone="yes"?>
<Relationships xmlns="http://schemas.openxmlformats.org/package/2006/relationships"></Relationships>
</file>

<file path=ppt/charts/_rels/chart7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8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/Relationships>
</file>

<file path=ppt/charts/_rels/chart10.xml.rels><?xml version="1.0" encoding="UTF-8" standalone="yes"?>
<Relationships xmlns="http://schemas.openxmlformats.org/package/2006/relationships"></Relationships>
</file>

<file path=ppt/charts/_rels/chart11.xml.rels><?xml version="1.0" encoding="UTF-8" standalone="yes"?>
<Relationships xmlns="http://schemas.openxmlformats.org/package/2006/relationships"></Relationships>
</file>

<file path=ppt/charts/_rels/chart12.xml.rels><?xml version="1.0" encoding="UTF-8" standalone="yes"?>
<Relationships xmlns="http://schemas.openxmlformats.org/package/2006/relationships"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94892377227463"/>
          <c:y val="0.13579325850625976"/>
          <c:w val="0.79298146579517292"/>
          <c:h val="0.7749373760518976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قيمة البند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2AA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4D-4FE1-9703-005B3A4C50EC}"/>
              </c:ext>
            </c:extLst>
          </c:dPt>
          <c:dPt>
            <c:idx val="1"/>
            <c:invertIfNegative val="0"/>
            <c:bubble3D val="0"/>
            <c:spPr>
              <a:solidFill>
                <a:srgbClr val="E5BA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014D-4FE1-9703-005B3A4C50EC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4D-4FE1-9703-005B3A4C50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تم التنفيذ</c:v>
                </c:pt>
                <c:pt idx="1">
                  <c:v>جار العمل </c:v>
                </c:pt>
                <c:pt idx="2">
                  <c:v>لم يتم البدء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D-4FE1-9703-005B3A4C5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الإجمالي 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تم التنفيذ</c:v>
                </c:pt>
                <c:pt idx="1">
                  <c:v>جار العمل </c:v>
                </c:pt>
                <c:pt idx="2">
                  <c:v>لم يتم البدء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D-4FE1-9703-005B3A4C50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39405952"/>
        <c:axId val="139415936"/>
      </c:barChart>
      <c:catAx>
        <c:axId val="139405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39415936"/>
        <c:crosses val="autoZero"/>
        <c:auto val="1"/>
        <c:lblAlgn val="ctr"/>
        <c:lblOffset val="100"/>
        <c:noMultiLvlLbl val="1"/>
      </c:catAx>
      <c:valAx>
        <c:axId val="1394159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39405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العدد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E3-4CC8-B686-A1310B323A71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E3-4CC8-B686-A1310B323A71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E3-4CC8-B686-A1310B323A71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E3-4CC8-B686-A1310B323A7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اجمالي الأوامر</c:v>
                </c:pt>
                <c:pt idx="1">
                  <c:v>المستلم 155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E3-4CC8-B686-A1310B323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المسند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5B-4307-A276-F81CD8345B75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5B-4307-A276-F81CD8345B75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جاري 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5B-4307-A276-F81CD8345B75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لم يبدأ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5B-4307-A276-F81CD8345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162165120"/>
        <c:axId val="162166656"/>
      </c:barChart>
      <c:catAx>
        <c:axId val="162165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66656"/>
        <c:crosses val="autoZero"/>
        <c:auto val="1"/>
        <c:lblAlgn val="ctr"/>
        <c:lblOffset val="100"/>
        <c:noMultiLvlLbl val="0"/>
      </c:catAx>
      <c:valAx>
        <c:axId val="1621666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165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التوصيلات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D-4ED3-AF36-3FD2D5D9873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المشاريع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2D-4ED3-AF36-3FD2D5D987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2130560"/>
        <c:axId val="162210176"/>
      </c:barChart>
      <c:catAx>
        <c:axId val="162130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210176"/>
        <c:crosses val="autoZero"/>
        <c:auto val="1"/>
        <c:lblAlgn val="ctr"/>
        <c:lblOffset val="100"/>
        <c:noMultiLvlLbl val="0"/>
      </c:catAx>
      <c:valAx>
        <c:axId val="162210176"/>
        <c:scaling>
          <c:orientation val="minMax"/>
          <c:max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30560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99938747705544"/>
          <c:y val="6.0655848420346617E-2"/>
          <c:w val="0.84800061252295278"/>
          <c:h val="0.52602868822553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التوصيلات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D-4ED3-AF36-3FD2D5D9873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المشاريع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2D-4ED3-AF36-3FD2D5D987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2362496"/>
        <c:axId val="162364032"/>
      </c:barChart>
      <c:catAx>
        <c:axId val="1623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64032"/>
        <c:crosses val="autoZero"/>
        <c:auto val="1"/>
        <c:lblAlgn val="ctr"/>
        <c:lblOffset val="100"/>
        <c:noMultiLvlLbl val="0"/>
      </c:catAx>
      <c:valAx>
        <c:axId val="162364032"/>
        <c:scaling>
          <c:orientation val="minMax"/>
          <c:max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6249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المسند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5B-4307-A276-F81CD8345B75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5B-4307-A276-F81CD8345B75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جاري 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5B-4307-A276-F81CD8345B75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لم يبدأ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5B-4307-A276-F81CD8345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162269440"/>
        <c:axId val="162287616"/>
      </c:barChart>
      <c:catAx>
        <c:axId val="162269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287616"/>
        <c:crosses val="autoZero"/>
        <c:auto val="1"/>
        <c:lblAlgn val="ctr"/>
        <c:lblOffset val="100"/>
        <c:noMultiLvlLbl val="0"/>
      </c:catAx>
      <c:valAx>
        <c:axId val="1622876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26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الإشعارات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B38-4C63-9C2D-946F799641D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B38-4C63-9C2D-946F799641D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FB38-4C63-9C2D-946F799641D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B38-4C63-9C2D-946F799641D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FB38-4C63-9C2D-946F799641D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290D-4E15-B65F-108F4DC79D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عدد التصاريح </c:v>
                </c:pt>
                <c:pt idx="1">
                  <c:v>تم الإصدار</c:v>
                </c:pt>
                <c:pt idx="2">
                  <c:v>قيد التنسيق</c:v>
                </c:pt>
                <c:pt idx="3">
                  <c:v>لايتطلب</c:v>
                </c:pt>
                <c:pt idx="4">
                  <c:v>لم يتم الإدخال</c:v>
                </c:pt>
                <c:pt idx="5">
                  <c:v>ملغي</c:v>
                </c:pt>
                <c:pt idx="6">
                  <c:v>بانتظار السداد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38-4C63-9C2D-946F799641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4317824"/>
        <c:axId val="164323712"/>
      </c:barChart>
      <c:catAx>
        <c:axId val="164317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23712"/>
        <c:crosses val="autoZero"/>
        <c:auto val="1"/>
        <c:lblAlgn val="ctr"/>
        <c:lblOffset val="100"/>
        <c:noMultiLvlLbl val="1"/>
      </c:catAx>
      <c:valAx>
        <c:axId val="1643237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1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سلسلة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ورقة1!$A$2:$A$4</c:f>
              <c:strCache>
                <c:ptCount val="3"/>
                <c:pt idx="0">
                  <c:v>شبكات</c:v>
                </c:pt>
                <c:pt idx="1">
                  <c:v>محطات</c:v>
                </c:pt>
                <c:pt idx="2">
                  <c:v>عمليات</c:v>
                </c:pt>
              </c:strCache>
            </c:strRef>
          </c:cat>
          <c:val>
            <c:numRef>
              <c:f>ورقة1!$B$2:$B$4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91-4767-9AED-5F2E95BFF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327808"/>
        <c:axId val="164619008"/>
      </c:barChart>
      <c:catAx>
        <c:axId val="16432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19008"/>
        <c:crosses val="autoZero"/>
        <c:auto val="1"/>
        <c:lblAlgn val="ctr"/>
        <c:lblOffset val="100"/>
        <c:noMultiLvlLbl val="0"/>
      </c:catAx>
      <c:valAx>
        <c:axId val="16461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2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الإشعارات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مقاول 1</c:v>
                </c:pt>
                <c:pt idx="1">
                  <c:v>مقاول 2</c:v>
                </c:pt>
                <c:pt idx="2">
                  <c:v>مقاول 3</c:v>
                </c:pt>
                <c:pt idx="3">
                  <c:v>مقاول 4</c:v>
                </c:pt>
                <c:pt idx="4">
                  <c:v>مقاول 5</c:v>
                </c:pt>
                <c:pt idx="5">
                  <c:v>مقاول 6</c:v>
                </c:pt>
                <c:pt idx="6">
                  <c:v>مقاول 7</c:v>
                </c:pt>
                <c:pt idx="7">
                  <c:v>مقاول 8</c:v>
                </c:pt>
                <c:pt idx="8">
                  <c:v>مقاول 9</c:v>
                </c:pt>
                <c:pt idx="9">
                  <c:v>مقاول 10</c:v>
                </c:pt>
                <c:pt idx="10">
                  <c:v>مقاول 11</c:v>
                </c:pt>
                <c:pt idx="11">
                  <c:v>مقاول 12</c:v>
                </c:pt>
                <c:pt idx="12">
                  <c:v>مقاول 13</c:v>
                </c:pt>
                <c:pt idx="13">
                  <c:v>مقاول 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9-4991-A8E1-EE90B51BA4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64786560"/>
        <c:axId val="164788096"/>
      </c:barChart>
      <c:catAx>
        <c:axId val="164786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64788096"/>
        <c:crosses val="autoZero"/>
        <c:auto val="1"/>
        <c:lblAlgn val="ctr"/>
        <c:lblOffset val="100"/>
        <c:noMultiLvlLbl val="1"/>
      </c:catAx>
      <c:valAx>
        <c:axId val="16478809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6478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العدد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E5-4C53-A835-AF96A1725897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E5-4C53-A835-AF96A172589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E5-4C53-A835-AF96A172589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E5-4C53-A835-AF96A172589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طارئ</c:v>
                </c:pt>
                <c:pt idx="1">
                  <c:v>مجدول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E5-4C53-A835-AF96A1725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الإشعارات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مايو</c:v>
                </c:pt>
                <c:pt idx="1">
                  <c:v>يونيو</c:v>
                </c:pt>
                <c:pt idx="2">
                  <c:v>يوليو</c:v>
                </c:pt>
                <c:pt idx="3">
                  <c:v>أغسطس</c:v>
                </c:pt>
                <c:pt idx="4">
                  <c:v>سبتمبر</c:v>
                </c:pt>
                <c:pt idx="5">
                  <c:v>أكتوبر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F3-4F57-90C9-9EE76B35F7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5"/>
        <c:axId val="164844672"/>
        <c:axId val="164846208"/>
      </c:barChart>
      <c:catAx>
        <c:axId val="164844672"/>
        <c:scaling>
          <c:orientation val="minMax"/>
        </c:scaling>
        <c:delete val="0"/>
        <c:axPos val="b"/>
        <c:majorGridlines/>
        <c:minorGridlines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64846208"/>
        <c:crosses val="autoZero"/>
        <c:auto val="1"/>
        <c:lblAlgn val="ctr"/>
        <c:lblOffset val="100"/>
        <c:noMultiLvlLbl val="1"/>
      </c:catAx>
      <c:valAx>
        <c:axId val="16484620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64844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94892377227325"/>
          <c:y val="0.13579325850625976"/>
          <c:w val="0.79298146579517292"/>
          <c:h val="0.7749373760519000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تم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اعتماد كميات التنفيذ</c:v>
                </c:pt>
                <c:pt idx="1">
                  <c:v>المستخلص</c:v>
                </c:pt>
                <c:pt idx="2">
                  <c:v>أمر الشراء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C-4765-A4EA-11FD4EF9E8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لم يتم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اعتماد كميات التنفيذ</c:v>
                </c:pt>
                <c:pt idx="1">
                  <c:v>المستخلص</c:v>
                </c:pt>
                <c:pt idx="2">
                  <c:v>أمر الشراء 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3C-4765-A4EA-11FD4EF9E8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64973568"/>
        <c:axId val="164995840"/>
      </c:barChart>
      <c:catAx>
        <c:axId val="1649735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64995840"/>
        <c:crosses val="autoZero"/>
        <c:auto val="1"/>
        <c:lblAlgn val="ctr"/>
        <c:lblOffset val="100"/>
        <c:noMultiLvlLbl val="1"/>
      </c:catAx>
      <c:valAx>
        <c:axId val="16499584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6497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3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9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5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6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7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7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7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7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7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8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8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8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8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8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8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8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4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4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4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8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8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9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9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9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5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95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6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4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00794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50542" y="114082"/>
            <a:ext cx="5212080" cy="44935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 rtl="1"/>
            <a:r>
              <a:rPr lang="ar-SA" sz="2800" b="1" dirty="0">
                <a:solidFill>
                  <a:srgbClr val="123F6C"/>
                </a:solidFill>
                <a:latin typeface="Almarai" pitchFamily="2" charset="-78"/>
                <a:cs typeface="Almarai" pitchFamily="2" charset="-78"/>
              </a:rPr>
              <a:t>لوحة مؤشرات الأداء — تقرير الإنشاءات</a:t>
            </a:r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E99E6D4B-AF86-2905-DAEC-B668F027E973}"/>
              </a:ext>
            </a:extLst>
          </p:cNvPr>
          <p:cNvSpPr/>
          <p:nvPr/>
        </p:nvSpPr>
        <p:spPr>
          <a:xfrm>
            <a:off x="491983" y="963355"/>
            <a:ext cx="2095499" cy="369332"/>
          </a:xfrm>
          <a:prstGeom prst="rect">
            <a:avLst/>
          </a:prstGeom>
          <a:solidFill>
            <a:srgbClr val="3079B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2A40B524-F8D1-9382-CF18-8580A7BC77D2}"/>
              </a:ext>
            </a:extLst>
          </p:cNvPr>
          <p:cNvSpPr/>
          <p:nvPr/>
        </p:nvSpPr>
        <p:spPr>
          <a:xfrm>
            <a:off x="4919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0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rPr>
              <a:t>—</a:t>
            </a: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A72C8F39-4776-EE4B-AAF5-0E94B9000C60}"/>
              </a:ext>
            </a:extLst>
          </p:cNvPr>
          <p:cNvSpPr txBox="1"/>
          <p:nvPr/>
        </p:nvSpPr>
        <p:spPr>
          <a:xfrm>
            <a:off x="1038529" y="1009521"/>
            <a:ext cx="124874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تم إستلام </a:t>
            </a:r>
            <a:r>
              <a:rPr lang="en-US" b="1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155  </a:t>
            </a:r>
          </a:p>
        </p:txBody>
      </p:sp>
      <p:sp>
        <p:nvSpPr>
          <p:cNvPr id="65" name="Rectangle 12">
            <a:extLst>
              <a:ext uri="{FF2B5EF4-FFF2-40B4-BE49-F238E27FC236}">
                <a16:creationId xmlns:a16="http://schemas.microsoft.com/office/drawing/2014/main" id="{63A1823B-C59B-7868-42AA-1E66DC4803F7}"/>
              </a:ext>
            </a:extLst>
          </p:cNvPr>
          <p:cNvSpPr/>
          <p:nvPr/>
        </p:nvSpPr>
        <p:spPr>
          <a:xfrm>
            <a:off x="2739883" y="963355"/>
            <a:ext cx="2095499" cy="36933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D1491002-45D9-ABE9-29FB-AF990492E053}"/>
              </a:ext>
            </a:extLst>
          </p:cNvPr>
          <p:cNvSpPr/>
          <p:nvPr/>
        </p:nvSpPr>
        <p:spPr>
          <a:xfrm>
            <a:off x="27398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rPr>
              <a:t>—</a:t>
            </a:r>
            <a:endParaRPr lang="ar-EG" sz="2000" b="1" dirty="0">
              <a:solidFill>
                <a:schemeClr val="tx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28B1D577-42A1-7BD9-C3EB-07E5B8E2C794}"/>
              </a:ext>
            </a:extLst>
          </p:cNvPr>
          <p:cNvSpPr txBox="1"/>
          <p:nvPr/>
        </p:nvSpPr>
        <p:spPr>
          <a:xfrm>
            <a:off x="3401188" y="994132"/>
            <a:ext cx="92012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2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لم يتم البدء</a:t>
            </a:r>
          </a:p>
        </p:txBody>
      </p:sp>
      <p:sp>
        <p:nvSpPr>
          <p:cNvPr id="73" name="Rectangle 16">
            <a:extLst>
              <a:ext uri="{FF2B5EF4-FFF2-40B4-BE49-F238E27FC236}">
                <a16:creationId xmlns:a16="http://schemas.microsoft.com/office/drawing/2014/main" id="{D6BAB274-2206-B951-D27D-426A0A548306}"/>
              </a:ext>
            </a:extLst>
          </p:cNvPr>
          <p:cNvSpPr/>
          <p:nvPr/>
        </p:nvSpPr>
        <p:spPr>
          <a:xfrm>
            <a:off x="5000483" y="963355"/>
            <a:ext cx="2095499" cy="369332"/>
          </a:xfrm>
          <a:prstGeom prst="rect">
            <a:avLst/>
          </a:prstGeom>
          <a:solidFill>
            <a:srgbClr val="CFA31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75" name="Rectangle 17">
            <a:extLst>
              <a:ext uri="{FF2B5EF4-FFF2-40B4-BE49-F238E27FC236}">
                <a16:creationId xmlns:a16="http://schemas.microsoft.com/office/drawing/2014/main" id="{EB089651-DE7C-35D8-B1F1-7A1B79A9E0C8}"/>
              </a:ext>
            </a:extLst>
          </p:cNvPr>
          <p:cNvSpPr/>
          <p:nvPr/>
        </p:nvSpPr>
        <p:spPr>
          <a:xfrm>
            <a:off x="50004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0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rPr>
              <a:t>—</a:t>
            </a:r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902B5455-7DF1-C115-0148-2AE61C37502C}"/>
              </a:ext>
            </a:extLst>
          </p:cNvPr>
          <p:cNvSpPr txBox="1"/>
          <p:nvPr/>
        </p:nvSpPr>
        <p:spPr>
          <a:xfrm>
            <a:off x="5521649" y="994132"/>
            <a:ext cx="104355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2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جاري العمل </a:t>
            </a:r>
          </a:p>
        </p:txBody>
      </p:sp>
      <p:sp>
        <p:nvSpPr>
          <p:cNvPr id="81" name="Rectangle 20">
            <a:extLst>
              <a:ext uri="{FF2B5EF4-FFF2-40B4-BE49-F238E27FC236}">
                <a16:creationId xmlns:a16="http://schemas.microsoft.com/office/drawing/2014/main" id="{0D575CEA-F248-BC0D-982E-CF26FA113F26}"/>
              </a:ext>
            </a:extLst>
          </p:cNvPr>
          <p:cNvSpPr/>
          <p:nvPr/>
        </p:nvSpPr>
        <p:spPr>
          <a:xfrm>
            <a:off x="7261083" y="963355"/>
            <a:ext cx="2095499" cy="369332"/>
          </a:xfrm>
          <a:prstGeom prst="rect">
            <a:avLst/>
          </a:prstGeom>
          <a:solidFill>
            <a:srgbClr val="64AE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000" b="1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تم التنفيذ</a:t>
            </a:r>
          </a:p>
        </p:txBody>
      </p:sp>
      <p:sp>
        <p:nvSpPr>
          <p:cNvPr id="83" name="Rectangle 21">
            <a:extLst>
              <a:ext uri="{FF2B5EF4-FFF2-40B4-BE49-F238E27FC236}">
                <a16:creationId xmlns:a16="http://schemas.microsoft.com/office/drawing/2014/main" id="{D39BA19C-FF4E-0DC7-26EC-B37F83332091}"/>
              </a:ext>
            </a:extLst>
          </p:cNvPr>
          <p:cNvSpPr/>
          <p:nvPr/>
        </p:nvSpPr>
        <p:spPr>
          <a:xfrm>
            <a:off x="72610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0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rPr>
              <a:t>—</a:t>
            </a:r>
            <a:endParaRPr sz="2000" b="1">
              <a:solidFill>
                <a:schemeClr val="tx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89" name="Rectangle 24">
            <a:extLst>
              <a:ext uri="{FF2B5EF4-FFF2-40B4-BE49-F238E27FC236}">
                <a16:creationId xmlns:a16="http://schemas.microsoft.com/office/drawing/2014/main" id="{DE82902A-D67F-D136-8453-67B16DAB762E}"/>
              </a:ext>
            </a:extLst>
          </p:cNvPr>
          <p:cNvSpPr/>
          <p:nvPr/>
        </p:nvSpPr>
        <p:spPr>
          <a:xfrm>
            <a:off x="9508983" y="963355"/>
            <a:ext cx="2095499" cy="369332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00207C3E-07F0-CB22-3446-4B61E23CC5F2}"/>
              </a:ext>
            </a:extLst>
          </p:cNvPr>
          <p:cNvSpPr/>
          <p:nvPr/>
        </p:nvSpPr>
        <p:spPr>
          <a:xfrm>
            <a:off x="95089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0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rPr>
              <a:t>—</a:t>
            </a:r>
            <a:endParaRPr sz="2000" b="1" dirty="0">
              <a:solidFill>
                <a:schemeClr val="tx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09C1B0AB-A654-78FC-8C5B-BFD9356C0E63}"/>
              </a:ext>
            </a:extLst>
          </p:cNvPr>
          <p:cNvSpPr txBox="1"/>
          <p:nvPr/>
        </p:nvSpPr>
        <p:spPr>
          <a:xfrm>
            <a:off x="9632817" y="1024910"/>
            <a:ext cx="1862689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6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اجمالي عدد الطلبات المسندة</a:t>
            </a:r>
          </a:p>
        </p:txBody>
      </p:sp>
      <p:grpSp>
        <p:nvGrpSpPr>
          <p:cNvPr id="150" name="مجموعة 149">
            <a:extLst>
              <a:ext uri="{FF2B5EF4-FFF2-40B4-BE49-F238E27FC236}">
                <a16:creationId xmlns:a16="http://schemas.microsoft.com/office/drawing/2014/main" id="{8208BCAC-A68D-675D-6A83-C8DFDCBD0A23}"/>
              </a:ext>
            </a:extLst>
          </p:cNvPr>
          <p:cNvGrpSpPr/>
          <p:nvPr/>
        </p:nvGrpSpPr>
        <p:grpSpPr>
          <a:xfrm>
            <a:off x="186915" y="52527"/>
            <a:ext cx="1865514" cy="512064"/>
            <a:chOff x="1688812" y="91440"/>
            <a:chExt cx="1865514" cy="512064"/>
          </a:xfrm>
        </p:grpSpPr>
        <p:pic>
          <p:nvPicPr>
            <p:cNvPr id="4" name="Picture 3" descr="pdc_logo.pn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812" y="109728"/>
              <a:ext cx="1072678" cy="475488"/>
            </a:xfrm>
            <a:prstGeom prst="rect">
              <a:avLst/>
            </a:prstGeom>
          </p:spPr>
        </p:pic>
        <p:pic>
          <p:nvPicPr>
            <p:cNvPr id="5" name="Picture 4" descr="sec_logo.png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1004" y="91440"/>
              <a:ext cx="583322" cy="512064"/>
            </a:xfrm>
            <a:prstGeom prst="rect">
              <a:avLst/>
            </a:prstGeom>
          </p:spPr>
        </p:pic>
      </p:grpSp>
      <p:sp>
        <p:nvSpPr>
          <p:cNvPr id="35" name="TextBox 30">
            <a:extLst>
              <a:ext uri="{FF2B5EF4-FFF2-40B4-BE49-F238E27FC236}">
                <a16:creationId xmlns:a16="http://schemas.microsoft.com/office/drawing/2014/main" id="{A8D245FA-B8D9-480C-8852-296574F782E5}"/>
              </a:ext>
            </a:extLst>
          </p:cNvPr>
          <p:cNvSpPr txBox="1"/>
          <p:nvPr/>
        </p:nvSpPr>
        <p:spPr>
          <a:xfrm>
            <a:off x="1119672" y="1988285"/>
            <a:ext cx="880049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الاعمال المجدولة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F8ADD25C-BF58-42FE-A66A-DADB8C321812}"/>
              </a:ext>
            </a:extLst>
          </p:cNvPr>
          <p:cNvSpPr txBox="1"/>
          <p:nvPr/>
        </p:nvSpPr>
        <p:spPr>
          <a:xfrm>
            <a:off x="3448480" y="2006591"/>
            <a:ext cx="703719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اعمال الطارئة</a:t>
            </a:r>
          </a:p>
        </p:txBody>
      </p:sp>
      <p:sp>
        <p:nvSpPr>
          <p:cNvPr id="48" name="TextBox 42">
            <a:extLst>
              <a:ext uri="{FF2B5EF4-FFF2-40B4-BE49-F238E27FC236}">
                <a16:creationId xmlns:a16="http://schemas.microsoft.com/office/drawing/2014/main" id="{847B0298-62BD-4B55-9FBA-AA23442BF781}"/>
              </a:ext>
            </a:extLst>
          </p:cNvPr>
          <p:cNvSpPr txBox="1"/>
          <p:nvPr/>
        </p:nvSpPr>
        <p:spPr>
          <a:xfrm>
            <a:off x="7945004" y="2032230"/>
            <a:ext cx="71654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مؤرشفة جزئياً</a:t>
            </a:r>
          </a:p>
        </p:txBody>
      </p:sp>
      <p:sp>
        <p:nvSpPr>
          <p:cNvPr id="52" name="TextBox 46">
            <a:extLst>
              <a:ext uri="{FF2B5EF4-FFF2-40B4-BE49-F238E27FC236}">
                <a16:creationId xmlns:a16="http://schemas.microsoft.com/office/drawing/2014/main" id="{617962B3-A7F9-420F-8E9E-8403E8816536}"/>
              </a:ext>
            </a:extLst>
          </p:cNvPr>
          <p:cNvSpPr txBox="1"/>
          <p:nvPr/>
        </p:nvSpPr>
        <p:spPr>
          <a:xfrm>
            <a:off x="10324296" y="2032230"/>
            <a:ext cx="46487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sz="1000" b="1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مؤرشفة</a:t>
            </a:r>
          </a:p>
        </p:txBody>
      </p:sp>
      <p:graphicFrame>
        <p:nvGraphicFramePr>
          <p:cNvPr id="34" name="Chart 0">
            <a:extLst>
              <a:ext uri="{FF2B5EF4-FFF2-40B4-BE49-F238E27FC236}">
                <a16:creationId xmlns:a16="http://schemas.microsoft.com/office/drawing/2014/main" id="{447E2D99-C43C-4FB1-941D-D877747F1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179209"/>
              </p:ext>
            </p:extLst>
          </p:nvPr>
        </p:nvGraphicFramePr>
        <p:xfrm>
          <a:off x="5853611" y="2370294"/>
          <a:ext cx="6338389" cy="3740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TextBox 53">
            <a:extLst>
              <a:ext uri="{FF2B5EF4-FFF2-40B4-BE49-F238E27FC236}">
                <a16:creationId xmlns:a16="http://schemas.microsoft.com/office/drawing/2014/main" id="{38865F68-4F3A-4D40-929E-64A7407FDAF1}"/>
              </a:ext>
            </a:extLst>
          </p:cNvPr>
          <p:cNvSpPr txBox="1"/>
          <p:nvPr/>
        </p:nvSpPr>
        <p:spPr>
          <a:xfrm>
            <a:off x="7095982" y="2483595"/>
            <a:ext cx="2095498" cy="276999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حالة أوامر العمل </a:t>
            </a:r>
          </a:p>
        </p:txBody>
      </p:sp>
      <p:graphicFrame>
        <p:nvGraphicFramePr>
          <p:cNvPr id="37" name="Chart 2">
            <a:extLst>
              <a:ext uri="{FF2B5EF4-FFF2-40B4-BE49-F238E27FC236}">
                <a16:creationId xmlns:a16="http://schemas.microsoft.com/office/drawing/2014/main" id="{5F55BC25-A39B-43C4-BB5D-4D4D52192B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563499"/>
              </p:ext>
            </p:extLst>
          </p:nvPr>
        </p:nvGraphicFramePr>
        <p:xfrm>
          <a:off x="978410" y="3079751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8" name="TextBox 53">
            <a:extLst>
              <a:ext uri="{FF2B5EF4-FFF2-40B4-BE49-F238E27FC236}">
                <a16:creationId xmlns:a16="http://schemas.microsoft.com/office/drawing/2014/main" id="{4A02FE23-83FB-4D4C-A074-2182AE1D38D5}"/>
              </a:ext>
            </a:extLst>
          </p:cNvPr>
          <p:cNvSpPr txBox="1"/>
          <p:nvPr/>
        </p:nvSpPr>
        <p:spPr>
          <a:xfrm>
            <a:off x="1688812" y="2483595"/>
            <a:ext cx="2095498" cy="276999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حالة استلام </a:t>
            </a:r>
            <a:r>
              <a:rPr lang="en-US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99290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0" y="202061"/>
            <a:ext cx="5212080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 rtl="1"/>
            <a:r>
              <a:rPr lang="ar-SA" sz="2400" b="1" dirty="0">
                <a:solidFill>
                  <a:srgbClr val="123F6C"/>
                </a:solidFill>
                <a:latin typeface="Almarai" pitchFamily="2" charset="-78"/>
                <a:cs typeface="Almarai" pitchFamily="2" charset="-78"/>
              </a:rPr>
              <a:t>لوحة مؤشرات الأداء — تقرير الإنشاءات</a:t>
            </a:r>
          </a:p>
        </p:txBody>
      </p:sp>
      <p:grpSp>
        <p:nvGrpSpPr>
          <p:cNvPr id="150" name="مجموعة 149">
            <a:extLst>
              <a:ext uri="{FF2B5EF4-FFF2-40B4-BE49-F238E27FC236}">
                <a16:creationId xmlns:a16="http://schemas.microsoft.com/office/drawing/2014/main" id="{8208BCAC-A68D-675D-6A83-C8DFDCBD0A23}"/>
              </a:ext>
            </a:extLst>
          </p:cNvPr>
          <p:cNvGrpSpPr/>
          <p:nvPr/>
        </p:nvGrpSpPr>
        <p:grpSpPr>
          <a:xfrm>
            <a:off x="404650" y="109728"/>
            <a:ext cx="1865514" cy="512064"/>
            <a:chOff x="1688812" y="91440"/>
            <a:chExt cx="1865514" cy="512064"/>
          </a:xfrm>
        </p:grpSpPr>
        <p:pic>
          <p:nvPicPr>
            <p:cNvPr id="4" name="Picture 3" descr="pdc_logo.pn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812" y="109728"/>
              <a:ext cx="1072678" cy="475488"/>
            </a:xfrm>
            <a:prstGeom prst="rect">
              <a:avLst/>
            </a:prstGeom>
          </p:spPr>
        </p:pic>
        <p:pic>
          <p:nvPicPr>
            <p:cNvPr id="5" name="Picture 4" descr="sec_logo.png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1004" y="91440"/>
              <a:ext cx="583322" cy="512064"/>
            </a:xfrm>
            <a:prstGeom prst="rect">
              <a:avLst/>
            </a:prstGeom>
          </p:spPr>
        </p:pic>
      </p:grpSp>
      <p:graphicFrame>
        <p:nvGraphicFramePr>
          <p:cNvPr id="145" name="مخطط 144">
            <a:extLst>
              <a:ext uri="{FF2B5EF4-FFF2-40B4-BE49-F238E27FC236}">
                <a16:creationId xmlns:a16="http://schemas.microsoft.com/office/drawing/2014/main" id="{9E289F38-6FFF-41B7-A229-5C5DE1DDC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2221635"/>
              </p:ext>
            </p:extLst>
          </p:nvPr>
        </p:nvGraphicFramePr>
        <p:xfrm>
          <a:off x="3265171" y="4143375"/>
          <a:ext cx="2343150" cy="2727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6" name="Rectangle 9">
            <a:extLst>
              <a:ext uri="{FF2B5EF4-FFF2-40B4-BE49-F238E27FC236}">
                <a16:creationId xmlns:a16="http://schemas.microsoft.com/office/drawing/2014/main" id="{589043C4-F58E-4BC5-8CDE-C38F7EEB53FC}"/>
              </a:ext>
            </a:extLst>
          </p:cNvPr>
          <p:cNvSpPr/>
          <p:nvPr/>
        </p:nvSpPr>
        <p:spPr>
          <a:xfrm>
            <a:off x="10310134" y="3853399"/>
            <a:ext cx="1077679" cy="3077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sz="2000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مكة المكرمة</a:t>
            </a:r>
          </a:p>
        </p:txBody>
      </p:sp>
      <p:sp>
        <p:nvSpPr>
          <p:cNvPr id="147" name="Rectangle 9">
            <a:extLst>
              <a:ext uri="{FF2B5EF4-FFF2-40B4-BE49-F238E27FC236}">
                <a16:creationId xmlns:a16="http://schemas.microsoft.com/office/drawing/2014/main" id="{D93C5700-DD04-4836-BAF6-51A36B0D24B2}"/>
              </a:ext>
            </a:extLst>
          </p:cNvPr>
          <p:cNvSpPr/>
          <p:nvPr/>
        </p:nvSpPr>
        <p:spPr>
          <a:xfrm>
            <a:off x="3582672" y="3876418"/>
            <a:ext cx="171041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sz="2000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خليص</a:t>
            </a:r>
          </a:p>
        </p:txBody>
      </p:sp>
      <p:sp>
        <p:nvSpPr>
          <p:cNvPr id="148" name="TextBox 53">
            <a:extLst>
              <a:ext uri="{FF2B5EF4-FFF2-40B4-BE49-F238E27FC236}">
                <a16:creationId xmlns:a16="http://schemas.microsoft.com/office/drawing/2014/main" id="{55F788C2-80F4-4A42-A986-36B0C2143585}"/>
              </a:ext>
            </a:extLst>
          </p:cNvPr>
          <p:cNvSpPr txBox="1"/>
          <p:nvPr/>
        </p:nvSpPr>
        <p:spPr>
          <a:xfrm>
            <a:off x="6197600" y="3814862"/>
            <a:ext cx="2863979" cy="3077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sz="2000" b="1" noProof="0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حالة استلام </a:t>
            </a:r>
            <a:r>
              <a:rPr lang="en-US" sz="2000" b="1" noProof="0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 </a:t>
            </a:r>
            <a:r>
              <a:rPr lang="en-US" sz="2000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155 </a:t>
            </a:r>
            <a:r>
              <a:rPr lang="ar-SA" sz="2000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مكة المكرمة</a:t>
            </a:r>
            <a:endParaRPr lang="en-US" sz="2000" b="1" dirty="0">
              <a:solidFill>
                <a:srgbClr val="141414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149" name="TextBox 53">
            <a:extLst>
              <a:ext uri="{FF2B5EF4-FFF2-40B4-BE49-F238E27FC236}">
                <a16:creationId xmlns:a16="http://schemas.microsoft.com/office/drawing/2014/main" id="{E3F1B086-A424-4683-B423-FBC5F9BFE186}"/>
              </a:ext>
            </a:extLst>
          </p:cNvPr>
          <p:cNvSpPr txBox="1"/>
          <p:nvPr/>
        </p:nvSpPr>
        <p:spPr>
          <a:xfrm>
            <a:off x="429579" y="3891807"/>
            <a:ext cx="2095498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حالة استلام </a:t>
            </a:r>
            <a:r>
              <a:rPr lang="en-US" b="1" noProof="0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 </a:t>
            </a:r>
            <a:r>
              <a:rPr lang="en-US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155 </a:t>
            </a:r>
            <a:r>
              <a:rPr lang="ar-SA" b="1" dirty="0">
                <a:solidFill>
                  <a:srgbClr val="141414"/>
                </a:solidFill>
                <a:latin typeface="Almarai" pitchFamily="2" charset="-78"/>
                <a:cs typeface="Almarai" pitchFamily="2" charset="-78"/>
              </a:rPr>
              <a:t>خليص</a:t>
            </a:r>
            <a:endParaRPr lang="en-US" b="1" dirty="0">
              <a:solidFill>
                <a:srgbClr val="141414"/>
              </a:solidFill>
              <a:latin typeface="Almarai" pitchFamily="2" charset="-78"/>
              <a:cs typeface="Almarai" pitchFamily="2" charset="-78"/>
            </a:endParaRPr>
          </a:p>
        </p:txBody>
      </p:sp>
      <p:graphicFrame>
        <p:nvGraphicFramePr>
          <p:cNvPr id="152" name="مخطط 151">
            <a:extLst>
              <a:ext uri="{FF2B5EF4-FFF2-40B4-BE49-F238E27FC236}">
                <a16:creationId xmlns:a16="http://schemas.microsoft.com/office/drawing/2014/main" id="{4983CBFD-A021-4144-B7C2-80B783B8C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317738"/>
              </p:ext>
            </p:extLst>
          </p:nvPr>
        </p:nvGraphicFramePr>
        <p:xfrm>
          <a:off x="50750" y="4253509"/>
          <a:ext cx="2860301" cy="2576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مخطط 151">
            <a:extLst>
              <a:ext uri="{FF2B5EF4-FFF2-40B4-BE49-F238E27FC236}">
                <a16:creationId xmlns:a16="http://schemas.microsoft.com/office/drawing/2014/main" id="{4983CBFD-A021-4144-B7C2-80B783B8C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9965939"/>
              </p:ext>
            </p:extLst>
          </p:nvPr>
        </p:nvGraphicFramePr>
        <p:xfrm>
          <a:off x="6197600" y="4153417"/>
          <a:ext cx="3099437" cy="2576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8" name="مخطط 144">
            <a:extLst>
              <a:ext uri="{FF2B5EF4-FFF2-40B4-BE49-F238E27FC236}">
                <a16:creationId xmlns:a16="http://schemas.microsoft.com/office/drawing/2014/main" id="{9E289F38-6FFF-41B7-A229-5C5DE1DDC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639018"/>
              </p:ext>
            </p:extLst>
          </p:nvPr>
        </p:nvGraphicFramePr>
        <p:xfrm>
          <a:off x="9749912" y="4153417"/>
          <a:ext cx="2343150" cy="2576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72AE30B-2493-90B3-8D1E-6E93EA664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528272"/>
              </p:ext>
            </p:extLst>
          </p:nvPr>
        </p:nvGraphicFramePr>
        <p:xfrm>
          <a:off x="325120" y="856817"/>
          <a:ext cx="11643359" cy="2880349"/>
        </p:xfrm>
        <a:graphic>
          <a:graphicData uri="http://schemas.openxmlformats.org/drawingml/2006/table">
            <a:tbl>
              <a:tblPr rtl="1"/>
              <a:tblGrid>
                <a:gridCol w="1671907">
                  <a:extLst>
                    <a:ext uri="{9D8B030D-6E8A-4147-A177-3AD203B41FA5}">
                      <a16:colId xmlns:a16="http://schemas.microsoft.com/office/drawing/2014/main" val="41618055"/>
                    </a:ext>
                  </a:extLst>
                </a:gridCol>
                <a:gridCol w="1671907">
                  <a:extLst>
                    <a:ext uri="{9D8B030D-6E8A-4147-A177-3AD203B41FA5}">
                      <a16:colId xmlns:a16="http://schemas.microsoft.com/office/drawing/2014/main" val="2714123284"/>
                    </a:ext>
                  </a:extLst>
                </a:gridCol>
                <a:gridCol w="1336543">
                  <a:extLst>
                    <a:ext uri="{9D8B030D-6E8A-4147-A177-3AD203B41FA5}">
                      <a16:colId xmlns:a16="http://schemas.microsoft.com/office/drawing/2014/main" val="1359122237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1538197902"/>
                    </a:ext>
                  </a:extLst>
                </a:gridCol>
                <a:gridCol w="521242">
                  <a:extLst>
                    <a:ext uri="{9D8B030D-6E8A-4147-A177-3AD203B41FA5}">
                      <a16:colId xmlns:a16="http://schemas.microsoft.com/office/drawing/2014/main" val="1868894280"/>
                    </a:ext>
                  </a:extLst>
                </a:gridCol>
                <a:gridCol w="521242">
                  <a:extLst>
                    <a:ext uri="{9D8B030D-6E8A-4147-A177-3AD203B41FA5}">
                      <a16:colId xmlns:a16="http://schemas.microsoft.com/office/drawing/2014/main" val="134203505"/>
                    </a:ext>
                  </a:extLst>
                </a:gridCol>
                <a:gridCol w="417977">
                  <a:extLst>
                    <a:ext uri="{9D8B030D-6E8A-4147-A177-3AD203B41FA5}">
                      <a16:colId xmlns:a16="http://schemas.microsoft.com/office/drawing/2014/main" val="3759355445"/>
                    </a:ext>
                  </a:extLst>
                </a:gridCol>
                <a:gridCol w="413059">
                  <a:extLst>
                    <a:ext uri="{9D8B030D-6E8A-4147-A177-3AD203B41FA5}">
                      <a16:colId xmlns:a16="http://schemas.microsoft.com/office/drawing/2014/main" val="1940448636"/>
                    </a:ext>
                  </a:extLst>
                </a:gridCol>
                <a:gridCol w="575333">
                  <a:extLst>
                    <a:ext uri="{9D8B030D-6E8A-4147-A177-3AD203B41FA5}">
                      <a16:colId xmlns:a16="http://schemas.microsoft.com/office/drawing/2014/main" val="3527526968"/>
                    </a:ext>
                  </a:extLst>
                </a:gridCol>
                <a:gridCol w="575333">
                  <a:extLst>
                    <a:ext uri="{9D8B030D-6E8A-4147-A177-3AD203B41FA5}">
                      <a16:colId xmlns:a16="http://schemas.microsoft.com/office/drawing/2014/main" val="4138742648"/>
                    </a:ext>
                  </a:extLst>
                </a:gridCol>
                <a:gridCol w="501572">
                  <a:extLst>
                    <a:ext uri="{9D8B030D-6E8A-4147-A177-3AD203B41FA5}">
                      <a16:colId xmlns:a16="http://schemas.microsoft.com/office/drawing/2014/main" val="3777983295"/>
                    </a:ext>
                  </a:extLst>
                </a:gridCol>
                <a:gridCol w="683515">
                  <a:extLst>
                    <a:ext uri="{9D8B030D-6E8A-4147-A177-3AD203B41FA5}">
                      <a16:colId xmlns:a16="http://schemas.microsoft.com/office/drawing/2014/main" val="3725230695"/>
                    </a:ext>
                  </a:extLst>
                </a:gridCol>
                <a:gridCol w="683515">
                  <a:extLst>
                    <a:ext uri="{9D8B030D-6E8A-4147-A177-3AD203B41FA5}">
                      <a16:colId xmlns:a16="http://schemas.microsoft.com/office/drawing/2014/main" val="453377591"/>
                    </a:ext>
                  </a:extLst>
                </a:gridCol>
                <a:gridCol w="585167">
                  <a:extLst>
                    <a:ext uri="{9D8B030D-6E8A-4147-A177-3AD203B41FA5}">
                      <a16:colId xmlns:a16="http://schemas.microsoft.com/office/drawing/2014/main" val="2157256998"/>
                    </a:ext>
                  </a:extLst>
                </a:gridCol>
                <a:gridCol w="540911">
                  <a:extLst>
                    <a:ext uri="{9D8B030D-6E8A-4147-A177-3AD203B41FA5}">
                      <a16:colId xmlns:a16="http://schemas.microsoft.com/office/drawing/2014/main" val="847615693"/>
                    </a:ext>
                  </a:extLst>
                </a:gridCol>
                <a:gridCol w="540911">
                  <a:extLst>
                    <a:ext uri="{9D8B030D-6E8A-4147-A177-3AD203B41FA5}">
                      <a16:colId xmlns:a16="http://schemas.microsoft.com/office/drawing/2014/main" val="2874043118"/>
                    </a:ext>
                  </a:extLst>
                </a:gridCol>
              </a:tblGrid>
              <a:tr h="446998">
                <a:tc gridSpan="16">
                  <a:txBody>
                    <a:bodyPr/>
                    <a:lstStyle/>
                    <a:p>
                      <a:pPr algn="ctr" rtl="1" fontAlgn="ctr"/>
                      <a:r>
                        <a:rPr lang="ar-SA" sz="2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الإنشــــــاءات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785868"/>
                  </a:ext>
                </a:extLst>
              </a:tr>
              <a:tr h="285502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الفرع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القسم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1" fontAlgn="ctr"/>
                      <a:r>
                        <a:rPr lang="ar-SA" sz="1200" b="1" i="0" u="none" strike="noStrike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حالة أوامر العمل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1" fontAlgn="ctr"/>
                      <a:r>
                        <a:rPr lang="ar-SA" sz="1200" b="1" i="0" u="none" strike="noStrike">
                          <a:solidFill>
                            <a:srgbClr val="141414"/>
                          </a:solidFill>
                          <a:effectLst/>
                          <a:latin typeface="Arial" panose="020B0604020202020204" pitchFamily="34" charset="0"/>
                        </a:rPr>
                        <a:t>حالة استلام 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777063"/>
                  </a:ext>
                </a:extLst>
              </a:tr>
              <a:tr h="519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المسند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المنفذ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موقوف / محول / تصفير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مبرمج التشغيل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جاري العمل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لم يبدأ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مستندات لم تسلم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تحت المراجعة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استلام الأصول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اعتماد تعديل المقايسة  (التخطيط)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مرفق للاستلام 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مستلم 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نسبة الإنجاز %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174556"/>
                  </a:ext>
                </a:extLst>
              </a:tr>
              <a:tr h="192641">
                <a:tc rowSpan="4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مكة المكرمة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التوصيلات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r>
                        <a:rPr lang="ar-S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24621"/>
                  </a:ext>
                </a:extLst>
              </a:tr>
              <a:tr h="1759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المشاريع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مشاريع مكة المكرمة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250798"/>
                  </a:ext>
                </a:extLst>
              </a:tr>
              <a:tr h="2422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مشاريع المنطقة المركزية والمشاعر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731099"/>
                  </a:ext>
                </a:extLst>
              </a:tr>
              <a:tr h="1672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الأتمتة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35643"/>
                  </a:ext>
                </a:extLst>
              </a:tr>
              <a:tr h="190335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خليص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التوصيلات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40025"/>
                  </a:ext>
                </a:extLst>
              </a:tr>
              <a:tr h="1874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المشاريع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مشاريع خليص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984151"/>
                  </a:ext>
                </a:extLst>
              </a:tr>
              <a:tr h="181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الأتمتة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ar-S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53408"/>
                  </a:ext>
                </a:extLst>
              </a:tr>
              <a:tr h="192641">
                <a:tc gridSpan="3">
                  <a:txBody>
                    <a:bodyPr/>
                    <a:lstStyle/>
                    <a:p>
                      <a:pPr algn="ctr" rtl="1" fontAlgn="ctr"/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الإجمالي 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r>
                        <a:rPr lang="ar-SA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584" marR="2584" marT="2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62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30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36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765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2016" y="172438"/>
            <a:ext cx="5212080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 rtl="1"/>
            <a:r>
              <a:rPr lang="ar-SA" sz="2000" b="1" dirty="0">
                <a:solidFill>
                  <a:srgbClr val="123F6C"/>
                </a:solidFill>
                <a:latin typeface="Almarai" pitchFamily="2" charset="-78"/>
                <a:cs typeface="Almarai" pitchFamily="2" charset="-78"/>
              </a:rPr>
              <a:t>لوحة مؤشرات الأداء — تقرير حاله التصاريح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17F69B-F06E-5169-F03B-6F2CF92A50DA}"/>
              </a:ext>
            </a:extLst>
          </p:cNvPr>
          <p:cNvGrpSpPr/>
          <p:nvPr/>
        </p:nvGrpSpPr>
        <p:grpSpPr>
          <a:xfrm>
            <a:off x="5369620" y="952500"/>
            <a:ext cx="1443449" cy="973678"/>
            <a:chOff x="3100815" y="913555"/>
            <a:chExt cx="1260850" cy="973678"/>
          </a:xfrm>
        </p:grpSpPr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E99E6D4B-AF86-2905-DAEC-B668F027E973}"/>
                </a:ext>
              </a:extLst>
            </p:cNvPr>
            <p:cNvSpPr/>
            <p:nvPr/>
          </p:nvSpPr>
          <p:spPr>
            <a:xfrm>
              <a:off x="3100815" y="913555"/>
              <a:ext cx="1260850" cy="440278"/>
            </a:xfrm>
            <a:prstGeom prst="rect">
              <a:avLst/>
            </a:prstGeom>
            <a:solidFill>
              <a:srgbClr val="3079B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sz="1600"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58" name="Rectangle 9">
              <a:extLst>
                <a:ext uri="{FF2B5EF4-FFF2-40B4-BE49-F238E27FC236}">
                  <a16:creationId xmlns:a16="http://schemas.microsoft.com/office/drawing/2014/main" id="{2A40B524-F8D1-9382-CF18-8580A7BC77D2}"/>
                </a:ext>
              </a:extLst>
            </p:cNvPr>
            <p:cNvSpPr/>
            <p:nvPr/>
          </p:nvSpPr>
          <p:spPr>
            <a:xfrm>
              <a:off x="3100815" y="1353833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SA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61" name="TextBox 10">
              <a:extLst>
                <a:ext uri="{FF2B5EF4-FFF2-40B4-BE49-F238E27FC236}">
                  <a16:creationId xmlns:a16="http://schemas.microsoft.com/office/drawing/2014/main" id="{A72C8F39-4776-EE4B-AAF5-0E94B9000C60}"/>
                </a:ext>
              </a:extLst>
            </p:cNvPr>
            <p:cNvSpPr txBox="1"/>
            <p:nvPr/>
          </p:nvSpPr>
          <p:spPr>
            <a:xfrm>
              <a:off x="3398997" y="983300"/>
              <a:ext cx="653010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rtl="1"/>
              <a:r>
                <a:rPr lang="ar-SA" sz="1600" b="1" noProof="0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لا يتطلب </a:t>
              </a:r>
              <a:endParaRPr lang="en-US" sz="1600" b="1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CF06A7-90E7-28A2-45B6-BEC13BA26D19}"/>
              </a:ext>
            </a:extLst>
          </p:cNvPr>
          <p:cNvGrpSpPr/>
          <p:nvPr/>
        </p:nvGrpSpPr>
        <p:grpSpPr>
          <a:xfrm>
            <a:off x="7125479" y="960691"/>
            <a:ext cx="1443449" cy="965488"/>
            <a:chOff x="5942817" y="919097"/>
            <a:chExt cx="1260850" cy="953526"/>
          </a:xfrm>
        </p:grpSpPr>
        <p:sp>
          <p:nvSpPr>
            <p:cNvPr id="73" name="Rectangle 16">
              <a:extLst>
                <a:ext uri="{FF2B5EF4-FFF2-40B4-BE49-F238E27FC236}">
                  <a16:creationId xmlns:a16="http://schemas.microsoft.com/office/drawing/2014/main" id="{D6BAB274-2206-B951-D27D-426A0A548306}"/>
                </a:ext>
              </a:extLst>
            </p:cNvPr>
            <p:cNvSpPr/>
            <p:nvPr/>
          </p:nvSpPr>
          <p:spPr>
            <a:xfrm>
              <a:off x="5942817" y="919097"/>
              <a:ext cx="1260850" cy="420126"/>
            </a:xfrm>
            <a:prstGeom prst="rect">
              <a:avLst/>
            </a:prstGeom>
            <a:solidFill>
              <a:srgbClr val="CFA318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sz="1600"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75" name="Rectangle 17">
              <a:extLst>
                <a:ext uri="{FF2B5EF4-FFF2-40B4-BE49-F238E27FC236}">
                  <a16:creationId xmlns:a16="http://schemas.microsoft.com/office/drawing/2014/main" id="{EB089651-DE7C-35D8-B1F1-7A1B79A9E0C8}"/>
                </a:ext>
              </a:extLst>
            </p:cNvPr>
            <p:cNvSpPr/>
            <p:nvPr/>
          </p:nvSpPr>
          <p:spPr>
            <a:xfrm>
              <a:off x="5942817" y="1339223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77" name="TextBox 18">
              <a:extLst>
                <a:ext uri="{FF2B5EF4-FFF2-40B4-BE49-F238E27FC236}">
                  <a16:creationId xmlns:a16="http://schemas.microsoft.com/office/drawing/2014/main" id="{902B5455-7DF1-C115-0148-2AE61C37502C}"/>
                </a:ext>
              </a:extLst>
            </p:cNvPr>
            <p:cNvSpPr txBox="1"/>
            <p:nvPr/>
          </p:nvSpPr>
          <p:spPr>
            <a:xfrm>
              <a:off x="6201723" y="1000994"/>
              <a:ext cx="765818" cy="2431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rtl="1"/>
              <a:r>
                <a:rPr lang="ar-SA" sz="1600" b="1" noProof="0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قيد التنسيق</a:t>
              </a:r>
            </a:p>
          </p:txBody>
        </p:sp>
        <p:sp>
          <p:nvSpPr>
            <p:cNvPr id="79" name="TextBox 19">
              <a:extLst>
                <a:ext uri="{FF2B5EF4-FFF2-40B4-BE49-F238E27FC236}">
                  <a16:creationId xmlns:a16="http://schemas.microsoft.com/office/drawing/2014/main" id="{F62FEF32-9B85-7149-36C9-85A5E907D6D1}"/>
                </a:ext>
              </a:extLst>
            </p:cNvPr>
            <p:cNvSpPr txBox="1"/>
            <p:nvPr/>
          </p:nvSpPr>
          <p:spPr>
            <a:xfrm>
              <a:off x="6353197" y="1504073"/>
              <a:ext cx="472690" cy="2431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algn="ctr" rtl="1">
                <a:defRPr sz="2100" b="1">
                  <a:solidFill>
                    <a:srgbClr val="CFA318"/>
                  </a:solidFill>
                  <a:latin typeface="Arial"/>
                </a:defRPr>
              </a:lvl1pPr>
            </a:lstStyle>
            <a:p>
              <a:endParaRPr sz="1600" dirty="0">
                <a:latin typeface="Almarai" pitchFamily="2" charset="-78"/>
                <a:cs typeface="Almarai" pitchFamily="2" charset="-78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F417F9-CD1C-0777-B0D8-D4DFE3D2B40A}"/>
              </a:ext>
            </a:extLst>
          </p:cNvPr>
          <p:cNvGrpSpPr/>
          <p:nvPr/>
        </p:nvGrpSpPr>
        <p:grpSpPr>
          <a:xfrm>
            <a:off x="8881338" y="960690"/>
            <a:ext cx="1443449" cy="965488"/>
            <a:chOff x="10635061" y="904657"/>
            <a:chExt cx="1260850" cy="965488"/>
          </a:xfrm>
        </p:grpSpPr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0D575CEA-F248-BC0D-982E-CF26FA113F26}"/>
                </a:ext>
              </a:extLst>
            </p:cNvPr>
            <p:cNvSpPr/>
            <p:nvPr/>
          </p:nvSpPr>
          <p:spPr>
            <a:xfrm>
              <a:off x="10635061" y="904657"/>
              <a:ext cx="1260850" cy="432088"/>
            </a:xfrm>
            <a:prstGeom prst="rect">
              <a:avLst/>
            </a:prstGeom>
            <a:solidFill>
              <a:srgbClr val="64AE3E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SA" sz="1600" b="1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تم الاصدار</a:t>
              </a:r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D39BA19C-FF4E-0DC7-26EC-B37F83332091}"/>
                </a:ext>
              </a:extLst>
            </p:cNvPr>
            <p:cNvSpPr/>
            <p:nvPr/>
          </p:nvSpPr>
          <p:spPr>
            <a:xfrm>
              <a:off x="10635061" y="1336745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SA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3DED23-6098-41B3-B09E-4AD580D91BC6}"/>
              </a:ext>
            </a:extLst>
          </p:cNvPr>
          <p:cNvGrpSpPr/>
          <p:nvPr/>
        </p:nvGrpSpPr>
        <p:grpSpPr>
          <a:xfrm>
            <a:off x="3613761" y="952500"/>
            <a:ext cx="1443449" cy="973678"/>
            <a:chOff x="1688812" y="920665"/>
            <a:chExt cx="1260850" cy="973678"/>
          </a:xfrm>
        </p:grpSpPr>
        <p:sp>
          <p:nvSpPr>
            <p:cNvPr id="89" name="Rectangle 24">
              <a:extLst>
                <a:ext uri="{FF2B5EF4-FFF2-40B4-BE49-F238E27FC236}">
                  <a16:creationId xmlns:a16="http://schemas.microsoft.com/office/drawing/2014/main" id="{DE82902A-D67F-D136-8453-67B16DAB762E}"/>
                </a:ext>
              </a:extLst>
            </p:cNvPr>
            <p:cNvSpPr/>
            <p:nvPr/>
          </p:nvSpPr>
          <p:spPr>
            <a:xfrm>
              <a:off x="1688812" y="920665"/>
              <a:ext cx="1260850" cy="44027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sz="1600" dirty="0"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00207C3E-07F0-CB22-3446-4B61E23CC5F2}"/>
                </a:ext>
              </a:extLst>
            </p:cNvPr>
            <p:cNvSpPr/>
            <p:nvPr/>
          </p:nvSpPr>
          <p:spPr>
            <a:xfrm>
              <a:off x="1688812" y="1360943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93" name="TextBox 26">
              <a:extLst>
                <a:ext uri="{FF2B5EF4-FFF2-40B4-BE49-F238E27FC236}">
                  <a16:creationId xmlns:a16="http://schemas.microsoft.com/office/drawing/2014/main" id="{09C1B0AB-A654-78FC-8C5B-BFD9356C0E63}"/>
                </a:ext>
              </a:extLst>
            </p:cNvPr>
            <p:cNvSpPr txBox="1"/>
            <p:nvPr/>
          </p:nvSpPr>
          <p:spPr>
            <a:xfrm>
              <a:off x="1892454" y="990410"/>
              <a:ext cx="843052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rtl="1"/>
              <a:r>
                <a:rPr lang="ar-SA" sz="1600" b="1" noProof="0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لم يتم الادخال</a:t>
              </a:r>
            </a:p>
          </p:txBody>
        </p:sp>
        <p:sp>
          <p:nvSpPr>
            <p:cNvPr id="95" name="TextBox 27">
              <a:extLst>
                <a:ext uri="{FF2B5EF4-FFF2-40B4-BE49-F238E27FC236}">
                  <a16:creationId xmlns:a16="http://schemas.microsoft.com/office/drawing/2014/main" id="{414462A8-759A-362E-2C10-029F902603CD}"/>
                </a:ext>
              </a:extLst>
            </p:cNvPr>
            <p:cNvSpPr txBox="1"/>
            <p:nvPr/>
          </p:nvSpPr>
          <p:spPr>
            <a:xfrm>
              <a:off x="2095329" y="1497126"/>
              <a:ext cx="452778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rtl="1"/>
              <a:endParaRPr sz="1600" b="1" dirty="0">
                <a:solidFill>
                  <a:srgbClr val="FF0000"/>
                </a:solidFill>
                <a:latin typeface="Almarai" pitchFamily="2" charset="-78"/>
                <a:cs typeface="Almarai" pitchFamily="2" charset="-78"/>
              </a:endParaRPr>
            </a:p>
          </p:txBody>
        </p:sp>
      </p:grpSp>
      <p:grpSp>
        <p:nvGrpSpPr>
          <p:cNvPr id="150" name="مجموعة 149">
            <a:extLst>
              <a:ext uri="{FF2B5EF4-FFF2-40B4-BE49-F238E27FC236}">
                <a16:creationId xmlns:a16="http://schemas.microsoft.com/office/drawing/2014/main" id="{8208BCAC-A68D-675D-6A83-C8DFDCBD0A23}"/>
              </a:ext>
            </a:extLst>
          </p:cNvPr>
          <p:cNvGrpSpPr/>
          <p:nvPr/>
        </p:nvGrpSpPr>
        <p:grpSpPr>
          <a:xfrm>
            <a:off x="327295" y="109728"/>
            <a:ext cx="1865514" cy="512064"/>
            <a:chOff x="1688812" y="91440"/>
            <a:chExt cx="1865514" cy="512064"/>
          </a:xfrm>
        </p:grpSpPr>
        <p:pic>
          <p:nvPicPr>
            <p:cNvPr id="4" name="Picture 3" descr="pdc_logo.pn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812" y="109728"/>
              <a:ext cx="1072678" cy="475488"/>
            </a:xfrm>
            <a:prstGeom prst="rect">
              <a:avLst/>
            </a:prstGeom>
          </p:spPr>
        </p:pic>
        <p:pic>
          <p:nvPicPr>
            <p:cNvPr id="5" name="Picture 4" descr="sec_logo.png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1004" y="91440"/>
              <a:ext cx="583322" cy="512064"/>
            </a:xfrm>
            <a:prstGeom prst="rect">
              <a:avLst/>
            </a:prstGeom>
          </p:spPr>
        </p:pic>
      </p:grpSp>
      <p:sp>
        <p:nvSpPr>
          <p:cNvPr id="35" name="TextBox 30">
            <a:extLst>
              <a:ext uri="{FF2B5EF4-FFF2-40B4-BE49-F238E27FC236}">
                <a16:creationId xmlns:a16="http://schemas.microsoft.com/office/drawing/2014/main" id="{A8D245FA-B8D9-480C-8852-296574F782E5}"/>
              </a:ext>
            </a:extLst>
          </p:cNvPr>
          <p:cNvSpPr txBox="1"/>
          <p:nvPr/>
        </p:nvSpPr>
        <p:spPr>
          <a:xfrm>
            <a:off x="685567" y="1995269"/>
            <a:ext cx="57448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الاعمال المجدولة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F8ADD25C-BF58-42FE-A66A-DADB8C321812}"/>
              </a:ext>
            </a:extLst>
          </p:cNvPr>
          <p:cNvSpPr txBox="1"/>
          <p:nvPr/>
        </p:nvSpPr>
        <p:spPr>
          <a:xfrm>
            <a:off x="2763926" y="2027764"/>
            <a:ext cx="46751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اعمال الطارئة</a:t>
            </a:r>
          </a:p>
        </p:txBody>
      </p:sp>
      <p:sp>
        <p:nvSpPr>
          <p:cNvPr id="52" name="TextBox 46">
            <a:extLst>
              <a:ext uri="{FF2B5EF4-FFF2-40B4-BE49-F238E27FC236}">
                <a16:creationId xmlns:a16="http://schemas.microsoft.com/office/drawing/2014/main" id="{617962B3-A7F9-420F-8E9E-8403E8816536}"/>
              </a:ext>
            </a:extLst>
          </p:cNvPr>
          <p:cNvSpPr txBox="1"/>
          <p:nvPr/>
        </p:nvSpPr>
        <p:spPr>
          <a:xfrm>
            <a:off x="8976846" y="2023560"/>
            <a:ext cx="27997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sz="1000" b="1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rPr>
              <a:t>مؤرشفة</a:t>
            </a:r>
          </a:p>
        </p:txBody>
      </p:sp>
      <p:graphicFrame>
        <p:nvGraphicFramePr>
          <p:cNvPr id="40" name="Chart 0">
            <a:extLst>
              <a:ext uri="{FF2B5EF4-FFF2-40B4-BE49-F238E27FC236}">
                <a16:creationId xmlns:a16="http://schemas.microsoft.com/office/drawing/2014/main" id="{B4A0558C-284B-45E8-819C-A1BDFAC14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253806"/>
              </p:ext>
            </p:extLst>
          </p:nvPr>
        </p:nvGraphicFramePr>
        <p:xfrm>
          <a:off x="477520" y="2767632"/>
          <a:ext cx="4708557" cy="3409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2F34A1A0-5A39-7191-D4E9-53BE364C6A43}"/>
              </a:ext>
            </a:extLst>
          </p:cNvPr>
          <p:cNvGrpSpPr/>
          <p:nvPr/>
        </p:nvGrpSpPr>
        <p:grpSpPr>
          <a:xfrm>
            <a:off x="91575" y="952500"/>
            <a:ext cx="1453917" cy="973678"/>
            <a:chOff x="286945" y="893424"/>
            <a:chExt cx="1269994" cy="973678"/>
          </a:xfrm>
        </p:grpSpPr>
        <p:sp>
          <p:nvSpPr>
            <p:cNvPr id="7" name="Rectangle 20">
              <a:extLst>
                <a:ext uri="{FF2B5EF4-FFF2-40B4-BE49-F238E27FC236}">
                  <a16:creationId xmlns:a16="http://schemas.microsoft.com/office/drawing/2014/main" id="{08CE450A-AAC2-9E19-4A02-A73075B12509}"/>
                </a:ext>
              </a:extLst>
            </p:cNvPr>
            <p:cNvSpPr/>
            <p:nvPr/>
          </p:nvSpPr>
          <p:spPr>
            <a:xfrm>
              <a:off x="286945" y="893424"/>
              <a:ext cx="1260850" cy="44027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EG" sz="1600" b="1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بانتظار السداد </a:t>
              </a:r>
              <a:endParaRPr lang="ar-SA" sz="1600" b="1" dirty="0">
                <a:solidFill>
                  <a:srgbClr val="FFFFFF"/>
                </a:solidFill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4FA17F8C-44C6-B237-9DE8-85D30BF4C482}"/>
                </a:ext>
              </a:extLst>
            </p:cNvPr>
            <p:cNvSpPr/>
            <p:nvPr/>
          </p:nvSpPr>
          <p:spPr>
            <a:xfrm>
              <a:off x="296089" y="1333702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D56A50F5-DA83-D0AB-F6CF-2A6E6859D766}"/>
                </a:ext>
              </a:extLst>
            </p:cNvPr>
            <p:cNvSpPr txBox="1"/>
            <p:nvPr/>
          </p:nvSpPr>
          <p:spPr>
            <a:xfrm>
              <a:off x="637878" y="1477292"/>
              <a:ext cx="481129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rtl="1"/>
              <a:endParaRPr sz="1600" b="1" dirty="0">
                <a:ln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lmarai" pitchFamily="2" charset="-78"/>
                <a:cs typeface="Almarai" pitchFamily="2" charset="-78"/>
              </a:endParaRPr>
            </a:p>
          </p:txBody>
        </p:sp>
      </p:grpSp>
      <p:sp>
        <p:nvSpPr>
          <p:cNvPr id="14" name="TextBox 49">
            <a:extLst>
              <a:ext uri="{FF2B5EF4-FFF2-40B4-BE49-F238E27FC236}">
                <a16:creationId xmlns:a16="http://schemas.microsoft.com/office/drawing/2014/main" id="{E24D2658-F2E6-0FD4-2C21-543FD34C814A}"/>
              </a:ext>
            </a:extLst>
          </p:cNvPr>
          <p:cNvSpPr txBox="1"/>
          <p:nvPr/>
        </p:nvSpPr>
        <p:spPr>
          <a:xfrm>
            <a:off x="6032245" y="2361180"/>
            <a:ext cx="5889201" cy="3693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 rtl="1">
              <a:defRPr sz="1400" b="1">
                <a:solidFill>
                  <a:srgbClr val="141414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EG" sz="2400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أبرز أسباب عدم إدخال التصاريح</a:t>
            </a:r>
            <a:endParaRPr lang="ar-SA" sz="2400" dirty="0">
              <a:solidFill>
                <a:schemeClr val="bg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16" name="TextBox 49">
            <a:extLst>
              <a:ext uri="{FF2B5EF4-FFF2-40B4-BE49-F238E27FC236}">
                <a16:creationId xmlns:a16="http://schemas.microsoft.com/office/drawing/2014/main" id="{EA2507A4-31E9-E776-5317-2CE784B36961}"/>
              </a:ext>
            </a:extLst>
          </p:cNvPr>
          <p:cNvSpPr txBox="1"/>
          <p:nvPr/>
        </p:nvSpPr>
        <p:spPr>
          <a:xfrm>
            <a:off x="111358" y="2345879"/>
            <a:ext cx="5816658" cy="3693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 rtl="1">
              <a:defRPr sz="1400" b="1">
                <a:solidFill>
                  <a:srgbClr val="141414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sz="2400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مؤشر بحالات التصاريح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CCADCE1-B525-8D08-AC10-289FA5F6998B}"/>
              </a:ext>
            </a:extLst>
          </p:cNvPr>
          <p:cNvGrpSpPr/>
          <p:nvPr/>
        </p:nvGrpSpPr>
        <p:grpSpPr>
          <a:xfrm>
            <a:off x="1857902" y="952500"/>
            <a:ext cx="1443449" cy="973678"/>
            <a:chOff x="9122212" y="929248"/>
            <a:chExt cx="1260850" cy="973678"/>
          </a:xfrm>
        </p:grpSpPr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05140215-7FE6-5537-69EB-F34350383E9E}"/>
                </a:ext>
              </a:extLst>
            </p:cNvPr>
            <p:cNvSpPr/>
            <p:nvPr/>
          </p:nvSpPr>
          <p:spPr>
            <a:xfrm>
              <a:off x="9122212" y="929248"/>
              <a:ext cx="1260850" cy="4402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SA" sz="1600" b="1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ملغي</a:t>
              </a: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D267CE6B-664D-27CA-5548-03F07DFA3EEE}"/>
                </a:ext>
              </a:extLst>
            </p:cNvPr>
            <p:cNvSpPr/>
            <p:nvPr/>
          </p:nvSpPr>
          <p:spPr>
            <a:xfrm>
              <a:off x="9122212" y="1369526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EG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  <p:sp>
          <p:nvSpPr>
            <p:cNvPr id="19" name="TextBox 23">
              <a:extLst>
                <a:ext uri="{FF2B5EF4-FFF2-40B4-BE49-F238E27FC236}">
                  <a16:creationId xmlns:a16="http://schemas.microsoft.com/office/drawing/2014/main" id="{8D129C94-B4C8-B36C-FCA5-68DB0207A28C}"/>
                </a:ext>
              </a:extLst>
            </p:cNvPr>
            <p:cNvSpPr txBox="1"/>
            <p:nvPr/>
          </p:nvSpPr>
          <p:spPr>
            <a:xfrm>
              <a:off x="9484109" y="1513116"/>
              <a:ext cx="559938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rtl="1"/>
              <a:endParaRPr sz="1600" b="1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Almarai" pitchFamily="2" charset="-78"/>
                <a:cs typeface="Almarai" pitchFamily="2" charset="-78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840E2E-4C8C-8E49-F7BC-14626574610A}"/>
              </a:ext>
            </a:extLst>
          </p:cNvPr>
          <p:cNvGrpSpPr/>
          <p:nvPr/>
        </p:nvGrpSpPr>
        <p:grpSpPr>
          <a:xfrm>
            <a:off x="10646338" y="952500"/>
            <a:ext cx="1444773" cy="973678"/>
            <a:chOff x="294932" y="893424"/>
            <a:chExt cx="1262007" cy="973678"/>
          </a:xfrm>
        </p:grpSpPr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BE559D0E-952B-CC8F-0D8E-3E0E4A8CAA9A}"/>
                </a:ext>
              </a:extLst>
            </p:cNvPr>
            <p:cNvSpPr/>
            <p:nvPr/>
          </p:nvSpPr>
          <p:spPr>
            <a:xfrm>
              <a:off x="294932" y="893424"/>
              <a:ext cx="1260850" cy="44027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SA" sz="1600" b="1" dirty="0">
                  <a:solidFill>
                    <a:srgbClr val="FFFFFF"/>
                  </a:solidFill>
                  <a:latin typeface="Almarai" pitchFamily="2" charset="-78"/>
                  <a:cs typeface="Almarai" pitchFamily="2" charset="-78"/>
                </a:rPr>
                <a:t>عدد التصاريح المطلوبة </a:t>
              </a:r>
            </a:p>
          </p:txBody>
        </p:sp>
        <p:sp>
          <p:nvSpPr>
            <p:cNvPr id="18" name="Rectangle 21">
              <a:extLst>
                <a:ext uri="{FF2B5EF4-FFF2-40B4-BE49-F238E27FC236}">
                  <a16:creationId xmlns:a16="http://schemas.microsoft.com/office/drawing/2014/main" id="{D2040FA4-2D23-30E4-D366-D6E7119937AE}"/>
                </a:ext>
              </a:extLst>
            </p:cNvPr>
            <p:cNvSpPr/>
            <p:nvPr/>
          </p:nvSpPr>
          <p:spPr>
            <a:xfrm>
              <a:off x="296089" y="1333702"/>
              <a:ext cx="1260850" cy="533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SA" sz="1600" b="1" dirty="0">
                  <a:solidFill>
                    <a:schemeClr val="tx1"/>
                  </a:solidFill>
                  <a:latin typeface="Almarai" pitchFamily="2" charset="-78"/>
                  <a:cs typeface="Almarai" pitchFamily="2" charset="-78"/>
                </a:rPr>
                <a:t>—</a:t>
              </a:r>
              <a:endParaRPr sz="1600" b="1" dirty="0">
                <a:solidFill>
                  <a:schemeClr val="tx1"/>
                </a:solidFill>
                <a:latin typeface="Almarai" pitchFamily="2" charset="-78"/>
                <a:cs typeface="Almarai" pitchFamily="2" charset="-78"/>
              </a:endParaRPr>
            </a:p>
          </p:txBody>
        </p:sp>
      </p:grp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501022"/>
              </p:ext>
            </p:extLst>
          </p:nvPr>
        </p:nvGraphicFramePr>
        <p:xfrm>
          <a:off x="6029325" y="2951174"/>
          <a:ext cx="5857875" cy="2967026"/>
        </p:xfrm>
        <a:graphic>
          <a:graphicData uri="http://schemas.openxmlformats.org/drawingml/2006/table">
            <a:tbl>
              <a:tblPr/>
              <a:tblGrid>
                <a:gridCol w="15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5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عوائق تنفيذ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بإنتظار اعتماد كشط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تنسيق مع جهات خارجية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لم يتم إدخال التصريح وتعدي المدة  ( تم عمل محضر 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5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الإجمـــــــــــــــــــــالي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AE60">
                            <a:tint val="66000"/>
                            <a:satMod val="160000"/>
                          </a:srgbClr>
                        </a:gs>
                        <a:gs pos="50000">
                          <a:srgbClr val="FFAE60">
                            <a:tint val="44500"/>
                            <a:satMod val="160000"/>
                          </a:srgbClr>
                        </a:gs>
                        <a:gs pos="100000">
                          <a:srgbClr val="FFAE6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72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60AB-37BE-A3B1-24BF-B171CAFA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8F47E8-BEEC-16A9-3282-9F9A03A748E8}"/>
              </a:ext>
            </a:extLst>
          </p:cNvPr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CD488-B825-1445-A63A-1095B143DE07}"/>
              </a:ext>
            </a:extLst>
          </p:cNvPr>
          <p:cNvSpPr/>
          <p:nvPr/>
        </p:nvSpPr>
        <p:spPr>
          <a:xfrm>
            <a:off x="0" y="768096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A821D-9DDB-D34A-9D02-F33E91C76E03}"/>
              </a:ext>
            </a:extLst>
          </p:cNvPr>
          <p:cNvSpPr txBox="1"/>
          <p:nvPr/>
        </p:nvSpPr>
        <p:spPr>
          <a:xfrm>
            <a:off x="3760739" y="202061"/>
            <a:ext cx="8226261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 rtl="1"/>
            <a:r>
              <a:rPr lang="ar-SA" sz="2400" b="1" dirty="0">
                <a:solidFill>
                  <a:srgbClr val="123F6C"/>
                </a:solidFill>
                <a:latin typeface="Arial"/>
                <a:cs typeface="Arial"/>
              </a:rPr>
              <a:t>لوحة مؤشرات الأداء — تقرير الطوارئ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77860E-24E8-6A42-3522-6D6954A79B56}"/>
              </a:ext>
            </a:extLst>
          </p:cNvPr>
          <p:cNvSpPr/>
          <p:nvPr/>
        </p:nvSpPr>
        <p:spPr>
          <a:xfrm>
            <a:off x="127000" y="877824"/>
            <a:ext cx="11950700" cy="5888736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7A6B1BF3-EF6E-6D20-9DAC-344F9214A8EE}"/>
              </a:ext>
            </a:extLst>
          </p:cNvPr>
          <p:cNvSpPr/>
          <p:nvPr/>
        </p:nvSpPr>
        <p:spPr>
          <a:xfrm>
            <a:off x="491983" y="1053287"/>
            <a:ext cx="2095499" cy="279400"/>
          </a:xfrm>
          <a:prstGeom prst="rect">
            <a:avLst/>
          </a:prstGeom>
          <a:solidFill>
            <a:srgbClr val="3079B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A4923AD5-1E45-DA1D-043F-10423C66CC51}"/>
              </a:ext>
            </a:extLst>
          </p:cNvPr>
          <p:cNvSpPr/>
          <p:nvPr/>
        </p:nvSpPr>
        <p:spPr>
          <a:xfrm>
            <a:off x="4919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% 94.6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C13524CC-DD9F-A986-F0D6-27A44D68F635}"/>
              </a:ext>
            </a:extLst>
          </p:cNvPr>
          <p:cNvSpPr txBox="1"/>
          <p:nvPr/>
        </p:nvSpPr>
        <p:spPr>
          <a:xfrm>
            <a:off x="1301608" y="1116043"/>
            <a:ext cx="51616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نسبة الإنجاز</a:t>
            </a:r>
          </a:p>
        </p:txBody>
      </p:sp>
      <p:sp>
        <p:nvSpPr>
          <p:cNvPr id="65" name="Rectangle 12">
            <a:extLst>
              <a:ext uri="{FF2B5EF4-FFF2-40B4-BE49-F238E27FC236}">
                <a16:creationId xmlns:a16="http://schemas.microsoft.com/office/drawing/2014/main" id="{8526E2C2-EF1E-E178-AF75-D59FB4605C19}"/>
              </a:ext>
            </a:extLst>
          </p:cNvPr>
          <p:cNvSpPr/>
          <p:nvPr/>
        </p:nvSpPr>
        <p:spPr>
          <a:xfrm>
            <a:off x="2739883" y="1053287"/>
            <a:ext cx="2095499" cy="279400"/>
          </a:xfrm>
          <a:prstGeom prst="rect">
            <a:avLst/>
          </a:prstGeom>
          <a:solidFill>
            <a:srgbClr val="CFA31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42805A23-3BC4-1D4B-149A-0E314E1C0366}"/>
              </a:ext>
            </a:extLst>
          </p:cNvPr>
          <p:cNvSpPr/>
          <p:nvPr/>
        </p:nvSpPr>
        <p:spPr>
          <a:xfrm>
            <a:off x="27398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58AC7DE6-66EE-3CA3-834E-C0D4A7A9591E}"/>
              </a:ext>
            </a:extLst>
          </p:cNvPr>
          <p:cNvSpPr txBox="1"/>
          <p:nvPr/>
        </p:nvSpPr>
        <p:spPr>
          <a:xfrm>
            <a:off x="3569499" y="1105060"/>
            <a:ext cx="46166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لم يتم البدء</a:t>
            </a:r>
          </a:p>
        </p:txBody>
      </p:sp>
      <p:sp>
        <p:nvSpPr>
          <p:cNvPr id="73" name="Rectangle 16">
            <a:extLst>
              <a:ext uri="{FF2B5EF4-FFF2-40B4-BE49-F238E27FC236}">
                <a16:creationId xmlns:a16="http://schemas.microsoft.com/office/drawing/2014/main" id="{50EFCF48-2752-338A-A74C-7F6F51FC658F}"/>
              </a:ext>
            </a:extLst>
          </p:cNvPr>
          <p:cNvSpPr/>
          <p:nvPr/>
        </p:nvSpPr>
        <p:spPr>
          <a:xfrm>
            <a:off x="5000483" y="1053287"/>
            <a:ext cx="2095499" cy="279400"/>
          </a:xfrm>
          <a:prstGeom prst="rect">
            <a:avLst/>
          </a:prstGeom>
          <a:solidFill>
            <a:srgbClr val="12747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75" name="Rectangle 17">
            <a:extLst>
              <a:ext uri="{FF2B5EF4-FFF2-40B4-BE49-F238E27FC236}">
                <a16:creationId xmlns:a16="http://schemas.microsoft.com/office/drawing/2014/main" id="{2D0C30B0-9F88-AAA0-EDF5-35AC4F3B0723}"/>
              </a:ext>
            </a:extLst>
          </p:cNvPr>
          <p:cNvSpPr/>
          <p:nvPr/>
        </p:nvSpPr>
        <p:spPr>
          <a:xfrm>
            <a:off x="50004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480EEB81-F969-9CB7-E8A1-7B1865913F36}"/>
              </a:ext>
            </a:extLst>
          </p:cNvPr>
          <p:cNvSpPr txBox="1"/>
          <p:nvPr/>
        </p:nvSpPr>
        <p:spPr>
          <a:xfrm>
            <a:off x="5713204" y="1116043"/>
            <a:ext cx="52097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جاري التنفيذ</a:t>
            </a:r>
          </a:p>
        </p:txBody>
      </p:sp>
      <p:sp>
        <p:nvSpPr>
          <p:cNvPr id="81" name="Rectangle 20">
            <a:extLst>
              <a:ext uri="{FF2B5EF4-FFF2-40B4-BE49-F238E27FC236}">
                <a16:creationId xmlns:a16="http://schemas.microsoft.com/office/drawing/2014/main" id="{5E219149-DD71-CC20-DA1E-CACCDD0FB36C}"/>
              </a:ext>
            </a:extLst>
          </p:cNvPr>
          <p:cNvSpPr/>
          <p:nvPr/>
        </p:nvSpPr>
        <p:spPr>
          <a:xfrm>
            <a:off x="7261083" y="1053287"/>
            <a:ext cx="2095499" cy="279400"/>
          </a:xfrm>
          <a:prstGeom prst="rect">
            <a:avLst/>
          </a:prstGeom>
          <a:solidFill>
            <a:srgbClr val="64AE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83" name="Rectangle 21">
            <a:extLst>
              <a:ext uri="{FF2B5EF4-FFF2-40B4-BE49-F238E27FC236}">
                <a16:creationId xmlns:a16="http://schemas.microsoft.com/office/drawing/2014/main" id="{A7146BBF-02EE-6052-EF1F-D201EF1F515D}"/>
              </a:ext>
            </a:extLst>
          </p:cNvPr>
          <p:cNvSpPr/>
          <p:nvPr/>
        </p:nvSpPr>
        <p:spPr>
          <a:xfrm>
            <a:off x="72610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528BEB92-9A83-80AC-9008-D3A1F0D9274A}"/>
              </a:ext>
            </a:extLst>
          </p:cNvPr>
          <p:cNvSpPr txBox="1"/>
          <p:nvPr/>
        </p:nvSpPr>
        <p:spPr>
          <a:xfrm>
            <a:off x="8221060" y="1105060"/>
            <a:ext cx="21159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منجز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 24">
            <a:extLst>
              <a:ext uri="{FF2B5EF4-FFF2-40B4-BE49-F238E27FC236}">
                <a16:creationId xmlns:a16="http://schemas.microsoft.com/office/drawing/2014/main" id="{1677D374-49E7-EB04-7DC4-8F7B2E497835}"/>
              </a:ext>
            </a:extLst>
          </p:cNvPr>
          <p:cNvSpPr/>
          <p:nvPr/>
        </p:nvSpPr>
        <p:spPr>
          <a:xfrm>
            <a:off x="9508983" y="1053287"/>
            <a:ext cx="2095499" cy="279400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43B713DA-7109-97C9-245E-C5B0AB2D2649}"/>
              </a:ext>
            </a:extLst>
          </p:cNvPr>
          <p:cNvSpPr/>
          <p:nvPr/>
        </p:nvSpPr>
        <p:spPr>
          <a:xfrm>
            <a:off x="95089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D11611C3-63F0-1DBE-E036-3B693242E3D4}"/>
              </a:ext>
            </a:extLst>
          </p:cNvPr>
          <p:cNvSpPr txBox="1"/>
          <p:nvPr/>
        </p:nvSpPr>
        <p:spPr>
          <a:xfrm>
            <a:off x="9972533" y="1116043"/>
            <a:ext cx="129843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إجمالي الأعمال الطارئة المسندة</a:t>
            </a:r>
          </a:p>
        </p:txBody>
      </p:sp>
      <p:sp>
        <p:nvSpPr>
          <p:cNvPr id="97" name="Rectangle 28">
            <a:extLst>
              <a:ext uri="{FF2B5EF4-FFF2-40B4-BE49-F238E27FC236}">
                <a16:creationId xmlns:a16="http://schemas.microsoft.com/office/drawing/2014/main" id="{218BCFFB-8945-3222-E588-E68236EE5CC5}"/>
              </a:ext>
            </a:extLst>
          </p:cNvPr>
          <p:cNvSpPr/>
          <p:nvPr/>
        </p:nvSpPr>
        <p:spPr>
          <a:xfrm>
            <a:off x="491983" y="2141777"/>
            <a:ext cx="2095499" cy="279400"/>
          </a:xfrm>
          <a:prstGeom prst="rect">
            <a:avLst/>
          </a:prstGeom>
          <a:solidFill>
            <a:srgbClr val="C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SA" noProof="0" dirty="0"/>
          </a:p>
        </p:txBody>
      </p:sp>
      <p:sp>
        <p:nvSpPr>
          <p:cNvPr id="99" name="Rectangle 29">
            <a:extLst>
              <a:ext uri="{FF2B5EF4-FFF2-40B4-BE49-F238E27FC236}">
                <a16:creationId xmlns:a16="http://schemas.microsoft.com/office/drawing/2014/main" id="{307BA3FF-75F4-D3EA-ED08-DA9B6E3324E6}"/>
              </a:ext>
            </a:extLst>
          </p:cNvPr>
          <p:cNvSpPr/>
          <p:nvPr/>
        </p:nvSpPr>
        <p:spPr>
          <a:xfrm>
            <a:off x="491983" y="2421177"/>
            <a:ext cx="2095499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1" name="TextBox 30">
            <a:extLst>
              <a:ext uri="{FF2B5EF4-FFF2-40B4-BE49-F238E27FC236}">
                <a16:creationId xmlns:a16="http://schemas.microsoft.com/office/drawing/2014/main" id="{99BD6FF1-18BB-6AEF-EBDD-BC5583F20641}"/>
              </a:ext>
            </a:extLst>
          </p:cNvPr>
          <p:cNvSpPr txBox="1"/>
          <p:nvPr/>
        </p:nvSpPr>
        <p:spPr>
          <a:xfrm>
            <a:off x="1211043" y="2170322"/>
            <a:ext cx="69730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الاعمال المجدولة</a:t>
            </a:r>
          </a:p>
        </p:txBody>
      </p:sp>
      <p:sp>
        <p:nvSpPr>
          <p:cNvPr id="105" name="Rectangle 32">
            <a:extLst>
              <a:ext uri="{FF2B5EF4-FFF2-40B4-BE49-F238E27FC236}">
                <a16:creationId xmlns:a16="http://schemas.microsoft.com/office/drawing/2014/main" id="{5EB37A00-18D7-5B86-642E-BB7D939E113B}"/>
              </a:ext>
            </a:extLst>
          </p:cNvPr>
          <p:cNvSpPr/>
          <p:nvPr/>
        </p:nvSpPr>
        <p:spPr>
          <a:xfrm>
            <a:off x="2752583" y="2141777"/>
            <a:ext cx="2095499" cy="279400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107" name="Rectangle 33">
            <a:extLst>
              <a:ext uri="{FF2B5EF4-FFF2-40B4-BE49-F238E27FC236}">
                <a16:creationId xmlns:a16="http://schemas.microsoft.com/office/drawing/2014/main" id="{F720132F-4227-0EE2-535C-9AA30EF53B4A}"/>
              </a:ext>
            </a:extLst>
          </p:cNvPr>
          <p:cNvSpPr/>
          <p:nvPr/>
        </p:nvSpPr>
        <p:spPr>
          <a:xfrm>
            <a:off x="2739883" y="242117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9" name="TextBox 34">
            <a:extLst>
              <a:ext uri="{FF2B5EF4-FFF2-40B4-BE49-F238E27FC236}">
                <a16:creationId xmlns:a16="http://schemas.microsoft.com/office/drawing/2014/main" id="{74A83B08-38E6-F983-3E4E-49ECA3391532}"/>
              </a:ext>
            </a:extLst>
          </p:cNvPr>
          <p:cNvSpPr txBox="1"/>
          <p:nvPr/>
        </p:nvSpPr>
        <p:spPr>
          <a:xfrm>
            <a:off x="3516608" y="2188628"/>
            <a:ext cx="56746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اعمال الطارئة</a:t>
            </a:r>
          </a:p>
        </p:txBody>
      </p:sp>
      <p:sp>
        <p:nvSpPr>
          <p:cNvPr id="113" name="Rectangle 36">
            <a:extLst>
              <a:ext uri="{FF2B5EF4-FFF2-40B4-BE49-F238E27FC236}">
                <a16:creationId xmlns:a16="http://schemas.microsoft.com/office/drawing/2014/main" id="{A6FBC27E-2F48-080B-9FA7-1053CAA5492F}"/>
              </a:ext>
            </a:extLst>
          </p:cNvPr>
          <p:cNvSpPr/>
          <p:nvPr/>
        </p:nvSpPr>
        <p:spPr>
          <a:xfrm>
            <a:off x="5000483" y="2141777"/>
            <a:ext cx="2095499" cy="279400"/>
          </a:xfrm>
          <a:prstGeom prst="rect">
            <a:avLst/>
          </a:prstGeom>
          <a:solidFill>
            <a:srgbClr val="C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115" name="Rectangle 37">
            <a:extLst>
              <a:ext uri="{FF2B5EF4-FFF2-40B4-BE49-F238E27FC236}">
                <a16:creationId xmlns:a16="http://schemas.microsoft.com/office/drawing/2014/main" id="{16A1B41F-02C1-C395-B218-F936214BC184}"/>
              </a:ext>
            </a:extLst>
          </p:cNvPr>
          <p:cNvSpPr/>
          <p:nvPr/>
        </p:nvSpPr>
        <p:spPr>
          <a:xfrm>
            <a:off x="5000483" y="242117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7" name="TextBox 38">
            <a:extLst>
              <a:ext uri="{FF2B5EF4-FFF2-40B4-BE49-F238E27FC236}">
                <a16:creationId xmlns:a16="http://schemas.microsoft.com/office/drawing/2014/main" id="{1B852208-1997-35B0-CB97-B918B70F72DA}"/>
              </a:ext>
            </a:extLst>
          </p:cNvPr>
          <p:cNvSpPr txBox="1"/>
          <p:nvPr/>
        </p:nvSpPr>
        <p:spPr>
          <a:xfrm>
            <a:off x="5782913" y="2204533"/>
            <a:ext cx="53540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غير مؤرشفة</a:t>
            </a:r>
          </a:p>
        </p:txBody>
      </p:sp>
      <p:sp>
        <p:nvSpPr>
          <p:cNvPr id="121" name="Rectangle 40">
            <a:extLst>
              <a:ext uri="{FF2B5EF4-FFF2-40B4-BE49-F238E27FC236}">
                <a16:creationId xmlns:a16="http://schemas.microsoft.com/office/drawing/2014/main" id="{4A5F7233-12D6-F5AC-9BC3-7D71667EB6C5}"/>
              </a:ext>
            </a:extLst>
          </p:cNvPr>
          <p:cNvSpPr/>
          <p:nvPr/>
        </p:nvSpPr>
        <p:spPr>
          <a:xfrm>
            <a:off x="7261083" y="2141777"/>
            <a:ext cx="2095499" cy="279400"/>
          </a:xfrm>
          <a:prstGeom prst="rect">
            <a:avLst/>
          </a:prstGeom>
          <a:solidFill>
            <a:srgbClr val="CFA31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123" name="Rectangle 41">
            <a:extLst>
              <a:ext uri="{FF2B5EF4-FFF2-40B4-BE49-F238E27FC236}">
                <a16:creationId xmlns:a16="http://schemas.microsoft.com/office/drawing/2014/main" id="{0BCDAFDA-75E7-2158-E06B-D58B0D90DD6A}"/>
              </a:ext>
            </a:extLst>
          </p:cNvPr>
          <p:cNvSpPr/>
          <p:nvPr/>
        </p:nvSpPr>
        <p:spPr>
          <a:xfrm>
            <a:off x="7261083" y="242117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5" name="TextBox 42">
            <a:extLst>
              <a:ext uri="{FF2B5EF4-FFF2-40B4-BE49-F238E27FC236}">
                <a16:creationId xmlns:a16="http://schemas.microsoft.com/office/drawing/2014/main" id="{12A10352-2E75-7E0F-7277-3E346FEA866F}"/>
              </a:ext>
            </a:extLst>
          </p:cNvPr>
          <p:cNvSpPr txBox="1"/>
          <p:nvPr/>
        </p:nvSpPr>
        <p:spPr>
          <a:xfrm>
            <a:off x="8003514" y="2214267"/>
            <a:ext cx="59952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مؤرشفة جزئياً</a:t>
            </a:r>
          </a:p>
        </p:txBody>
      </p:sp>
      <p:sp>
        <p:nvSpPr>
          <p:cNvPr id="129" name="Rectangle 44">
            <a:extLst>
              <a:ext uri="{FF2B5EF4-FFF2-40B4-BE49-F238E27FC236}">
                <a16:creationId xmlns:a16="http://schemas.microsoft.com/office/drawing/2014/main" id="{4805EBC9-D35D-6E18-582D-AFA3F8E977AE}"/>
              </a:ext>
            </a:extLst>
          </p:cNvPr>
          <p:cNvSpPr/>
          <p:nvPr/>
        </p:nvSpPr>
        <p:spPr>
          <a:xfrm>
            <a:off x="9508983" y="2141777"/>
            <a:ext cx="2095499" cy="279400"/>
          </a:xfrm>
          <a:prstGeom prst="rect">
            <a:avLst/>
          </a:prstGeom>
          <a:solidFill>
            <a:srgbClr val="12747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SA" noProof="0" dirty="0"/>
          </a:p>
        </p:txBody>
      </p:sp>
      <p:sp>
        <p:nvSpPr>
          <p:cNvPr id="131" name="Rectangle 45">
            <a:extLst>
              <a:ext uri="{FF2B5EF4-FFF2-40B4-BE49-F238E27FC236}">
                <a16:creationId xmlns:a16="http://schemas.microsoft.com/office/drawing/2014/main" id="{857F9BFA-E8B2-91E1-1128-3F1FABDA5B57}"/>
              </a:ext>
            </a:extLst>
          </p:cNvPr>
          <p:cNvSpPr/>
          <p:nvPr/>
        </p:nvSpPr>
        <p:spPr>
          <a:xfrm>
            <a:off x="9508983" y="242117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3" name="TextBox 46">
            <a:extLst>
              <a:ext uri="{FF2B5EF4-FFF2-40B4-BE49-F238E27FC236}">
                <a16:creationId xmlns:a16="http://schemas.microsoft.com/office/drawing/2014/main" id="{F2DE1C81-36BA-C543-9C1C-36164FA96BFD}"/>
              </a:ext>
            </a:extLst>
          </p:cNvPr>
          <p:cNvSpPr txBox="1"/>
          <p:nvPr/>
        </p:nvSpPr>
        <p:spPr>
          <a:xfrm>
            <a:off x="10386813" y="2214267"/>
            <a:ext cx="33983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sz="1000" b="1" dirty="0">
                <a:solidFill>
                  <a:srgbClr val="FFFFFF"/>
                </a:solidFill>
                <a:latin typeface="Arial"/>
              </a:rPr>
              <a:t>مؤرشفة</a:t>
            </a:r>
          </a:p>
        </p:txBody>
      </p:sp>
      <p:grpSp>
        <p:nvGrpSpPr>
          <p:cNvPr id="150" name="مجموعة 149">
            <a:extLst>
              <a:ext uri="{FF2B5EF4-FFF2-40B4-BE49-F238E27FC236}">
                <a16:creationId xmlns:a16="http://schemas.microsoft.com/office/drawing/2014/main" id="{CF67B3D7-B6C9-8BED-541B-BF9D920740A9}"/>
              </a:ext>
            </a:extLst>
          </p:cNvPr>
          <p:cNvGrpSpPr/>
          <p:nvPr/>
        </p:nvGrpSpPr>
        <p:grpSpPr>
          <a:xfrm>
            <a:off x="252090" y="109728"/>
            <a:ext cx="1865514" cy="512064"/>
            <a:chOff x="1688812" y="91440"/>
            <a:chExt cx="1865514" cy="512064"/>
          </a:xfrm>
        </p:grpSpPr>
        <p:pic>
          <p:nvPicPr>
            <p:cNvPr id="4" name="Picture 3" descr="pdc_logo.png">
              <a:extLst>
                <a:ext uri="{FF2B5EF4-FFF2-40B4-BE49-F238E27FC236}">
                  <a16:creationId xmlns:a16="http://schemas.microsoft.com/office/drawing/2014/main" id="{2D0E42E5-1088-8644-5164-44C720739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812" y="109728"/>
              <a:ext cx="1072678" cy="475488"/>
            </a:xfrm>
            <a:prstGeom prst="rect">
              <a:avLst/>
            </a:prstGeom>
          </p:spPr>
        </p:pic>
        <p:pic>
          <p:nvPicPr>
            <p:cNvPr id="5" name="Picture 4" descr="sec_logo.png">
              <a:extLst>
                <a:ext uri="{FF2B5EF4-FFF2-40B4-BE49-F238E27FC236}">
                  <a16:creationId xmlns:a16="http://schemas.microsoft.com/office/drawing/2014/main" id="{13DCCAB0-B809-EEDB-70D0-B38E3896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1004" y="91440"/>
              <a:ext cx="583322" cy="512064"/>
            </a:xfrm>
            <a:prstGeom prst="rect">
              <a:avLst/>
            </a:prstGeom>
          </p:spPr>
        </p:pic>
      </p:grpSp>
      <p:graphicFrame>
        <p:nvGraphicFramePr>
          <p:cNvPr id="139" name="مخطط 138">
            <a:extLst>
              <a:ext uri="{FF2B5EF4-FFF2-40B4-BE49-F238E27FC236}">
                <a16:creationId xmlns:a16="http://schemas.microsoft.com/office/drawing/2014/main" id="{7F39523E-6BBA-405C-62BB-D40D3970B3BE}"/>
              </a:ext>
            </a:extLst>
          </p:cNvPr>
          <p:cNvGraphicFramePr/>
          <p:nvPr/>
        </p:nvGraphicFramePr>
        <p:xfrm>
          <a:off x="9256498" y="3737703"/>
          <a:ext cx="2730502" cy="305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5" name="TextBox 53">
            <a:extLst>
              <a:ext uri="{FF2B5EF4-FFF2-40B4-BE49-F238E27FC236}">
                <a16:creationId xmlns:a16="http://schemas.microsoft.com/office/drawing/2014/main" id="{40999BB2-D2A1-E627-8796-B2C9C29581F9}"/>
              </a:ext>
            </a:extLst>
          </p:cNvPr>
          <p:cNvSpPr txBox="1"/>
          <p:nvPr/>
        </p:nvSpPr>
        <p:spPr>
          <a:xfrm>
            <a:off x="9508984" y="3302355"/>
            <a:ext cx="2095498" cy="215444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 rtl="1"/>
            <a:r>
              <a:rPr lang="ar-SA" sz="1400" b="1" noProof="0" dirty="0">
                <a:solidFill>
                  <a:srgbClr val="141414"/>
                </a:solidFill>
                <a:latin typeface="Arial"/>
              </a:rPr>
              <a:t>توزيع الأوامر حسب القسم</a:t>
            </a:r>
          </a:p>
        </p:txBody>
      </p:sp>
      <p:sp>
        <p:nvSpPr>
          <p:cNvPr id="147" name="TextBox 49">
            <a:extLst>
              <a:ext uri="{FF2B5EF4-FFF2-40B4-BE49-F238E27FC236}">
                <a16:creationId xmlns:a16="http://schemas.microsoft.com/office/drawing/2014/main" id="{88EF9305-EECA-23A5-5CB2-5DCE2579B846}"/>
              </a:ext>
            </a:extLst>
          </p:cNvPr>
          <p:cNvSpPr txBox="1"/>
          <p:nvPr/>
        </p:nvSpPr>
        <p:spPr>
          <a:xfrm>
            <a:off x="1308931" y="3304285"/>
            <a:ext cx="2557101" cy="215444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 rtl="1">
              <a:defRPr sz="1400" b="1">
                <a:solidFill>
                  <a:srgbClr val="141414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أعلى </a:t>
            </a:r>
            <a:r>
              <a:rPr lang="ar-EG" dirty="0"/>
              <a:t>14 مقاول </a:t>
            </a:r>
            <a:r>
              <a:rPr lang="ar-SA" dirty="0"/>
              <a:t>حسب حجم الأعمال</a:t>
            </a:r>
          </a:p>
        </p:txBody>
      </p:sp>
      <p:sp>
        <p:nvSpPr>
          <p:cNvPr id="149" name="TextBox 51">
            <a:extLst>
              <a:ext uri="{FF2B5EF4-FFF2-40B4-BE49-F238E27FC236}">
                <a16:creationId xmlns:a16="http://schemas.microsoft.com/office/drawing/2014/main" id="{042503A8-E1A0-252D-D45D-20F0454D9EAF}"/>
              </a:ext>
            </a:extLst>
          </p:cNvPr>
          <p:cNvSpPr txBox="1"/>
          <p:nvPr/>
        </p:nvSpPr>
        <p:spPr>
          <a:xfrm>
            <a:off x="6318316" y="3304285"/>
            <a:ext cx="1907514" cy="213514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 rtl="1">
              <a:defRPr sz="1400" b="1">
                <a:solidFill>
                  <a:srgbClr val="141414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طارئ مقابل مجدول</a:t>
            </a:r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CC8DEF84-3514-DC4E-54DC-A5F43E5BB970}"/>
              </a:ext>
            </a:extLst>
          </p:cNvPr>
          <p:cNvGraphicFramePr/>
          <p:nvPr/>
        </p:nvGraphicFramePr>
        <p:xfrm>
          <a:off x="258253" y="3683110"/>
          <a:ext cx="5256004" cy="2762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2">
            <a:extLst>
              <a:ext uri="{FF2B5EF4-FFF2-40B4-BE49-F238E27FC236}">
                <a16:creationId xmlns:a16="http://schemas.microsoft.com/office/drawing/2014/main" id="{F508B5A9-8CBE-337C-3208-23B2D476969C}"/>
              </a:ext>
            </a:extLst>
          </p:cNvPr>
          <p:cNvGraphicFramePr/>
          <p:nvPr/>
        </p:nvGraphicFramePr>
        <p:xfrm>
          <a:off x="5514257" y="4185178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09974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24" y="-18288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207570"/>
            <a:ext cx="5212080" cy="3570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 rtl="1"/>
            <a:r>
              <a:rPr lang="ar-SA" sz="2200" b="1" dirty="0">
                <a:solidFill>
                  <a:srgbClr val="123F6C"/>
                </a:solidFill>
                <a:latin typeface="Arial"/>
                <a:cs typeface="Arial"/>
              </a:rPr>
              <a:t>لوحة مؤشرات الأداء — تقرير الطوارئ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000" y="877824"/>
            <a:ext cx="11950700" cy="5888736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E99E6D4B-AF86-2905-DAEC-B668F027E973}"/>
              </a:ext>
            </a:extLst>
          </p:cNvPr>
          <p:cNvSpPr/>
          <p:nvPr/>
        </p:nvSpPr>
        <p:spPr>
          <a:xfrm>
            <a:off x="491983" y="1053287"/>
            <a:ext cx="2095499" cy="279400"/>
          </a:xfrm>
          <a:prstGeom prst="rect">
            <a:avLst/>
          </a:prstGeom>
          <a:solidFill>
            <a:srgbClr val="3079B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2A40B524-F8D1-9382-CF18-8580A7BC77D2}"/>
              </a:ext>
            </a:extLst>
          </p:cNvPr>
          <p:cNvSpPr/>
          <p:nvPr/>
        </p:nvSpPr>
        <p:spPr>
          <a:xfrm>
            <a:off x="4919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</a:rPr>
              <a:t>—</a:t>
            </a:r>
            <a:endParaRPr sz="2000" b="1">
              <a:solidFill>
                <a:schemeClr val="tx1"/>
              </a:solidFill>
            </a:endParaRP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A72C8F39-4776-EE4B-AAF5-0E94B9000C60}"/>
              </a:ext>
            </a:extLst>
          </p:cNvPr>
          <p:cNvSpPr txBox="1"/>
          <p:nvPr/>
        </p:nvSpPr>
        <p:spPr>
          <a:xfrm>
            <a:off x="1108156" y="1055688"/>
            <a:ext cx="98264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FFFFFF"/>
                </a:solidFill>
                <a:latin typeface="Arial"/>
              </a:rPr>
              <a:t>نسبة الصرف</a:t>
            </a:r>
          </a:p>
        </p:txBody>
      </p:sp>
      <p:sp>
        <p:nvSpPr>
          <p:cNvPr id="65" name="Rectangle 12">
            <a:extLst>
              <a:ext uri="{FF2B5EF4-FFF2-40B4-BE49-F238E27FC236}">
                <a16:creationId xmlns:a16="http://schemas.microsoft.com/office/drawing/2014/main" id="{63A1823B-C59B-7868-42AA-1E66DC4803F7}"/>
              </a:ext>
            </a:extLst>
          </p:cNvPr>
          <p:cNvSpPr/>
          <p:nvPr/>
        </p:nvSpPr>
        <p:spPr>
          <a:xfrm>
            <a:off x="2739883" y="1053287"/>
            <a:ext cx="2095499" cy="279400"/>
          </a:xfrm>
          <a:prstGeom prst="rect">
            <a:avLst/>
          </a:prstGeom>
          <a:solidFill>
            <a:srgbClr val="CFA31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D1491002-45D9-ABE9-29FB-AF990492E053}"/>
              </a:ext>
            </a:extLst>
          </p:cNvPr>
          <p:cNvSpPr/>
          <p:nvPr/>
        </p:nvSpPr>
        <p:spPr>
          <a:xfrm>
            <a:off x="27398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28B1D577-42A1-7BD9-C3EB-07E5B8E2C794}"/>
              </a:ext>
            </a:extLst>
          </p:cNvPr>
          <p:cNvSpPr txBox="1"/>
          <p:nvPr/>
        </p:nvSpPr>
        <p:spPr>
          <a:xfrm>
            <a:off x="3139443" y="1053287"/>
            <a:ext cx="137698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FFFFFF"/>
                </a:solidFill>
                <a:latin typeface="Arial"/>
              </a:rPr>
              <a:t>عدد أوامر الشراء </a:t>
            </a:r>
          </a:p>
        </p:txBody>
      </p:sp>
      <p:sp>
        <p:nvSpPr>
          <p:cNvPr id="73" name="Rectangle 16">
            <a:extLst>
              <a:ext uri="{FF2B5EF4-FFF2-40B4-BE49-F238E27FC236}">
                <a16:creationId xmlns:a16="http://schemas.microsoft.com/office/drawing/2014/main" id="{D6BAB274-2206-B951-D27D-426A0A548306}"/>
              </a:ext>
            </a:extLst>
          </p:cNvPr>
          <p:cNvSpPr/>
          <p:nvPr/>
        </p:nvSpPr>
        <p:spPr>
          <a:xfrm>
            <a:off x="5000483" y="1053287"/>
            <a:ext cx="2095499" cy="279400"/>
          </a:xfrm>
          <a:prstGeom prst="rect">
            <a:avLst/>
          </a:prstGeom>
          <a:solidFill>
            <a:srgbClr val="12747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75" name="Rectangle 17">
            <a:extLst>
              <a:ext uri="{FF2B5EF4-FFF2-40B4-BE49-F238E27FC236}">
                <a16:creationId xmlns:a16="http://schemas.microsoft.com/office/drawing/2014/main" id="{EB089651-DE7C-35D8-B1F1-7A1B79A9E0C8}"/>
              </a:ext>
            </a:extLst>
          </p:cNvPr>
          <p:cNvSpPr/>
          <p:nvPr/>
        </p:nvSpPr>
        <p:spPr>
          <a:xfrm>
            <a:off x="50004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902B5455-7DF1-C115-0148-2AE61C37502C}"/>
              </a:ext>
            </a:extLst>
          </p:cNvPr>
          <p:cNvSpPr txBox="1"/>
          <p:nvPr/>
        </p:nvSpPr>
        <p:spPr>
          <a:xfrm>
            <a:off x="5466129" y="1055688"/>
            <a:ext cx="130805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b="1" noProof="0" dirty="0">
                <a:solidFill>
                  <a:srgbClr val="FFFFFF"/>
                </a:solidFill>
                <a:latin typeface="Arial"/>
              </a:rPr>
              <a:t>عدد المستخلصات</a:t>
            </a:r>
          </a:p>
        </p:txBody>
      </p:sp>
      <p:sp>
        <p:nvSpPr>
          <p:cNvPr id="81" name="Rectangle 20">
            <a:extLst>
              <a:ext uri="{FF2B5EF4-FFF2-40B4-BE49-F238E27FC236}">
                <a16:creationId xmlns:a16="http://schemas.microsoft.com/office/drawing/2014/main" id="{0D575CEA-F248-BC0D-982E-CF26FA113F26}"/>
              </a:ext>
            </a:extLst>
          </p:cNvPr>
          <p:cNvSpPr/>
          <p:nvPr/>
        </p:nvSpPr>
        <p:spPr>
          <a:xfrm>
            <a:off x="7261083" y="1053287"/>
            <a:ext cx="2095499" cy="279400"/>
          </a:xfrm>
          <a:prstGeom prst="rect">
            <a:avLst/>
          </a:prstGeom>
          <a:solidFill>
            <a:srgbClr val="64AE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b="1" dirty="0">
                <a:solidFill>
                  <a:srgbClr val="FFFFFF"/>
                </a:solidFill>
                <a:latin typeface="Arial"/>
              </a:rPr>
              <a:t>ما تم اعتماد كمياته </a:t>
            </a:r>
          </a:p>
        </p:txBody>
      </p:sp>
      <p:sp>
        <p:nvSpPr>
          <p:cNvPr id="83" name="Rectangle 21">
            <a:extLst>
              <a:ext uri="{FF2B5EF4-FFF2-40B4-BE49-F238E27FC236}">
                <a16:creationId xmlns:a16="http://schemas.microsoft.com/office/drawing/2014/main" id="{D39BA19C-FF4E-0DC7-26EC-B37F83332091}"/>
              </a:ext>
            </a:extLst>
          </p:cNvPr>
          <p:cNvSpPr/>
          <p:nvPr/>
        </p:nvSpPr>
        <p:spPr>
          <a:xfrm>
            <a:off x="72610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9" name="Rectangle 24">
            <a:extLst>
              <a:ext uri="{FF2B5EF4-FFF2-40B4-BE49-F238E27FC236}">
                <a16:creationId xmlns:a16="http://schemas.microsoft.com/office/drawing/2014/main" id="{DE82902A-D67F-D136-8453-67B16DAB762E}"/>
              </a:ext>
            </a:extLst>
          </p:cNvPr>
          <p:cNvSpPr/>
          <p:nvPr/>
        </p:nvSpPr>
        <p:spPr>
          <a:xfrm>
            <a:off x="9508983" y="1053287"/>
            <a:ext cx="2095499" cy="279400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/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00207C3E-07F0-CB22-3446-4B61E23CC5F2}"/>
              </a:ext>
            </a:extLst>
          </p:cNvPr>
          <p:cNvSpPr/>
          <p:nvPr/>
        </p:nvSpPr>
        <p:spPr>
          <a:xfrm>
            <a:off x="9508983" y="1332687"/>
            <a:ext cx="2095499" cy="533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b="1" dirty="0">
                <a:solidFill>
                  <a:schemeClr val="tx1"/>
                </a:solidFill>
              </a:rPr>
              <a:t>—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09C1B0AB-A654-78FC-8C5B-BFD9356C0E63}"/>
              </a:ext>
            </a:extLst>
          </p:cNvPr>
          <p:cNvSpPr txBox="1"/>
          <p:nvPr/>
        </p:nvSpPr>
        <p:spPr>
          <a:xfrm>
            <a:off x="9972533" y="1116043"/>
            <a:ext cx="129843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rtl="1"/>
            <a:r>
              <a:rPr lang="ar-SA" sz="1000" b="1" noProof="0" dirty="0">
                <a:solidFill>
                  <a:srgbClr val="FFFFFF"/>
                </a:solidFill>
                <a:latin typeface="Arial"/>
              </a:rPr>
              <a:t>إجمالي الأعمال الطارئة المسندة</a:t>
            </a:r>
          </a:p>
        </p:txBody>
      </p:sp>
      <p:grpSp>
        <p:nvGrpSpPr>
          <p:cNvPr id="150" name="مجموعة 149">
            <a:extLst>
              <a:ext uri="{FF2B5EF4-FFF2-40B4-BE49-F238E27FC236}">
                <a16:creationId xmlns:a16="http://schemas.microsoft.com/office/drawing/2014/main" id="{8208BCAC-A68D-675D-6A83-C8DFDCBD0A23}"/>
              </a:ext>
            </a:extLst>
          </p:cNvPr>
          <p:cNvGrpSpPr/>
          <p:nvPr/>
        </p:nvGrpSpPr>
        <p:grpSpPr>
          <a:xfrm>
            <a:off x="225283" y="109728"/>
            <a:ext cx="1865514" cy="512064"/>
            <a:chOff x="1688812" y="91440"/>
            <a:chExt cx="1865514" cy="512064"/>
          </a:xfrm>
        </p:grpSpPr>
        <p:pic>
          <p:nvPicPr>
            <p:cNvPr id="4" name="Picture 3" descr="pdc_logo.pn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812" y="109728"/>
              <a:ext cx="1072678" cy="475488"/>
            </a:xfrm>
            <a:prstGeom prst="rect">
              <a:avLst/>
            </a:prstGeom>
          </p:spPr>
        </p:pic>
        <p:pic>
          <p:nvPicPr>
            <p:cNvPr id="5" name="Picture 4" descr="sec_logo.png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1004" y="91440"/>
              <a:ext cx="583322" cy="512064"/>
            </a:xfrm>
            <a:prstGeom prst="rect">
              <a:avLst/>
            </a:prstGeom>
          </p:spPr>
        </p:pic>
      </p:grpSp>
      <p:graphicFrame>
        <p:nvGraphicFramePr>
          <p:cNvPr id="152" name="Chart 0">
            <a:extLst>
              <a:ext uri="{FF2B5EF4-FFF2-40B4-BE49-F238E27FC236}">
                <a16:creationId xmlns:a16="http://schemas.microsoft.com/office/drawing/2014/main" id="{D7FD294D-E00F-B043-2027-BD28C7AB6E0D}"/>
              </a:ext>
            </a:extLst>
          </p:cNvPr>
          <p:cNvGraphicFramePr/>
          <p:nvPr/>
        </p:nvGraphicFramePr>
        <p:xfrm>
          <a:off x="225283" y="3336969"/>
          <a:ext cx="5029200" cy="3526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4" name="TextBox 49">
            <a:extLst>
              <a:ext uri="{FF2B5EF4-FFF2-40B4-BE49-F238E27FC236}">
                <a16:creationId xmlns:a16="http://schemas.microsoft.com/office/drawing/2014/main" id="{DD9F11E6-EDE5-164C-8883-C44F660F078C}"/>
              </a:ext>
            </a:extLst>
          </p:cNvPr>
          <p:cNvSpPr txBox="1"/>
          <p:nvPr/>
        </p:nvSpPr>
        <p:spPr>
          <a:xfrm>
            <a:off x="1461332" y="2810934"/>
            <a:ext cx="2557101" cy="215444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 rtl="1">
              <a:defRPr sz="1400" b="1">
                <a:solidFill>
                  <a:srgbClr val="141414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الاتجاه الشهري لعدد الإشعارات</a:t>
            </a:r>
          </a:p>
        </p:txBody>
      </p:sp>
      <p:graphicFrame>
        <p:nvGraphicFramePr>
          <p:cNvPr id="156" name="Chart 0">
            <a:extLst>
              <a:ext uri="{FF2B5EF4-FFF2-40B4-BE49-F238E27FC236}">
                <a16:creationId xmlns:a16="http://schemas.microsoft.com/office/drawing/2014/main" id="{3CD70562-C3A7-89F4-910B-95C49A73EC1F}"/>
              </a:ext>
            </a:extLst>
          </p:cNvPr>
          <p:cNvGraphicFramePr/>
          <p:nvPr/>
        </p:nvGraphicFramePr>
        <p:xfrm>
          <a:off x="5739311" y="2927078"/>
          <a:ext cx="6338389" cy="3740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7" name="TextBox 49">
            <a:extLst>
              <a:ext uri="{FF2B5EF4-FFF2-40B4-BE49-F238E27FC236}">
                <a16:creationId xmlns:a16="http://schemas.microsoft.com/office/drawing/2014/main" id="{59388751-3218-6B4A-8570-6AF5AC0B357E}"/>
              </a:ext>
            </a:extLst>
          </p:cNvPr>
          <p:cNvSpPr txBox="1"/>
          <p:nvPr/>
        </p:nvSpPr>
        <p:spPr>
          <a:xfrm>
            <a:off x="7629954" y="2864322"/>
            <a:ext cx="2557101" cy="215444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 rtl="1">
              <a:defRPr sz="1400" b="1">
                <a:solidFill>
                  <a:srgbClr val="141414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حاله المستخلصات وأوامر الشراء</a:t>
            </a:r>
          </a:p>
        </p:txBody>
      </p:sp>
      <p:sp>
        <p:nvSpPr>
          <p:cNvPr id="7" name="TextBox 49">
            <a:extLst>
              <a:ext uri="{FF2B5EF4-FFF2-40B4-BE49-F238E27FC236}">
                <a16:creationId xmlns:a16="http://schemas.microsoft.com/office/drawing/2014/main" id="{841F1563-7055-ABB8-1F53-1D21C7AC0B7D}"/>
              </a:ext>
            </a:extLst>
          </p:cNvPr>
          <p:cNvSpPr txBox="1"/>
          <p:nvPr/>
        </p:nvSpPr>
        <p:spPr>
          <a:xfrm>
            <a:off x="5000483" y="1994928"/>
            <a:ext cx="2095499" cy="276999"/>
          </a:xfrm>
          <a:prstGeom prst="rect">
            <a:avLst/>
          </a:prstGeom>
          <a:solidFill>
            <a:srgbClr val="12747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1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EG" b="1" dirty="0"/>
              <a:t>— إشعار</a:t>
            </a:r>
            <a:endParaRPr lang="ar-SA" b="1" dirty="0"/>
          </a:p>
        </p:txBody>
      </p:sp>
      <p:sp>
        <p:nvSpPr>
          <p:cNvPr id="9" name="TextBox 49">
            <a:extLst>
              <a:ext uri="{FF2B5EF4-FFF2-40B4-BE49-F238E27FC236}">
                <a16:creationId xmlns:a16="http://schemas.microsoft.com/office/drawing/2014/main" id="{966AE7B6-4D5D-33EF-B0BA-AD859DEC42E5}"/>
              </a:ext>
            </a:extLst>
          </p:cNvPr>
          <p:cNvSpPr txBox="1"/>
          <p:nvPr/>
        </p:nvSpPr>
        <p:spPr>
          <a:xfrm>
            <a:off x="9508983" y="1949706"/>
            <a:ext cx="2095499" cy="276999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1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بقيمه تقريبية</a:t>
            </a:r>
          </a:p>
        </p:txBody>
      </p:sp>
      <p:sp>
        <p:nvSpPr>
          <p:cNvPr id="10" name="TextBox 49">
            <a:extLst>
              <a:ext uri="{FF2B5EF4-FFF2-40B4-BE49-F238E27FC236}">
                <a16:creationId xmlns:a16="http://schemas.microsoft.com/office/drawing/2014/main" id="{ADA9860F-D734-EE29-7131-0EA8FF6D63C0}"/>
              </a:ext>
            </a:extLst>
          </p:cNvPr>
          <p:cNvSpPr txBox="1"/>
          <p:nvPr/>
        </p:nvSpPr>
        <p:spPr>
          <a:xfrm>
            <a:off x="7261083" y="1991383"/>
            <a:ext cx="2095499" cy="276999"/>
          </a:xfrm>
          <a:prstGeom prst="rect">
            <a:avLst/>
          </a:prstGeom>
          <a:solidFill>
            <a:srgbClr val="64AE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1">
              <a:defRPr b="1">
                <a:solidFill>
                  <a:srgbClr val="FFFFFF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بقيمه تقريبية</a:t>
            </a:r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95B41E00-C23A-D605-52B0-2086A3D3E455}"/>
              </a:ext>
            </a:extLst>
          </p:cNvPr>
          <p:cNvSpPr txBox="1"/>
          <p:nvPr/>
        </p:nvSpPr>
        <p:spPr>
          <a:xfrm>
            <a:off x="5000482" y="2357328"/>
            <a:ext cx="2095499" cy="276999"/>
          </a:xfrm>
          <a:prstGeom prst="rect">
            <a:avLst/>
          </a:prstGeom>
          <a:solidFill>
            <a:srgbClr val="12747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1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SA" dirty="0"/>
              <a:t>بقيمه تقريبية</a:t>
            </a:r>
          </a:p>
        </p:txBody>
      </p:sp>
    </p:spTree>
    <p:extLst>
      <p:ext uri="{BB962C8B-B14F-4D97-AF65-F5344CB8AC3E}">
        <p14:creationId xmlns:p14="http://schemas.microsoft.com/office/powerpoint/2010/main" val="174531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114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dc_logo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845" y="146304"/>
            <a:ext cx="1031421" cy="457200"/>
          </a:xfrm>
          <a:prstGeom prst="rect">
            <a:avLst/>
          </a:prstGeom>
        </p:spPr>
      </p:pic>
      <p:pic>
        <p:nvPicPr>
          <p:cNvPr id="6" name="Picture 5" descr="sec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600" y="91440"/>
            <a:ext cx="749299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35809"/>
            <a:ext cx="10652760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 rtl="1"/>
            <a:r>
              <a:rPr lang="ar-SA" sz="1200" b="0" dirty="0">
                <a:solidFill>
                  <a:srgbClr val="FFFFFF"/>
                </a:solidFill>
                <a:latin typeface="Arial"/>
                <a:cs typeface="Arial"/>
              </a:rPr>
              <a:t>شركة كهرباء السعودية لتطوير المشاريع |  PDC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A821D-9DDB-D34A-9D02-F33E91C76E03}"/>
              </a:ext>
            </a:extLst>
          </p:cNvPr>
          <p:cNvSpPr txBox="1"/>
          <p:nvPr/>
        </p:nvSpPr>
        <p:spPr>
          <a:xfrm>
            <a:off x="7404250" y="91440"/>
            <a:ext cx="3236495" cy="5724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 rtl="1"/>
            <a:r>
              <a:rPr lang="ar-EG" sz="3600" b="1" dirty="0">
                <a:solidFill>
                  <a:srgbClr val="123F6C"/>
                </a:solidFill>
                <a:latin typeface="Arial"/>
                <a:cs typeface="Arial"/>
              </a:rPr>
              <a:t>الإنجاز الأسبوعي :- </a:t>
            </a:r>
            <a:endParaRPr lang="ar-SA" sz="3600" b="1" dirty="0">
              <a:solidFill>
                <a:srgbClr val="123F6C"/>
              </a:solidFill>
              <a:latin typeface="Arial"/>
              <a:cs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55657" y="1837796"/>
          <a:ext cx="5174343" cy="1665622"/>
        </p:xfrm>
        <a:graphic>
          <a:graphicData uri="http://schemas.openxmlformats.org/drawingml/2006/table">
            <a:tbl>
              <a:tblPr/>
              <a:tblGrid>
                <a:gridCol w="5174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89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عدد أوامر العمل ( توصيلات) التي  تنفيذها خلال الأسبوع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 algn="ctr" fontAlgn="ctr"/>
                      <a:r>
                        <a:rPr lang="ar-EG" sz="1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9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عدد أوامر العمل ( توصيلات ) التي  استلامها —</a:t>
                      </a:r>
                      <a:r>
                        <a:rPr lang="ar-EG" sz="1900" b="1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خلال الأسبوع</a:t>
                      </a:r>
                      <a:endParaRPr lang="ar-EG" sz="1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873">
                <a:tc>
                  <a:txBody>
                    <a:bodyPr/>
                    <a:lstStyle/>
                    <a:p>
                      <a:pPr algn="ctr" fontAlgn="ctr"/>
                      <a:r>
                        <a:rPr lang="ar-EG" sz="1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3845" y="1837796"/>
          <a:ext cx="5222421" cy="1665621"/>
        </p:xfrm>
        <a:graphic>
          <a:graphicData uri="http://schemas.openxmlformats.org/drawingml/2006/table">
            <a:tbl>
              <a:tblPr/>
              <a:tblGrid>
                <a:gridCol w="5222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1763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عدد أوامر العمل (مشاريع) التي  تنفيذها خلال الأسبوع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54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EG" sz="1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عدد أوامر العمل ( مشاريع) التي  استلامها  — خلال الأسبوع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algn="ctr" fontAlgn="ctr"/>
                      <a:r>
                        <a:rPr lang="ar-EG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2477</Words>
  <Application>Microsoft Office PowerPoint</Application>
  <PresentationFormat>Widescreen</PresentationFormat>
  <Paragraphs>776</Paragraphs>
  <Slides>44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Almarai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SM-A525F</dc:creator>
  <cp:lastModifiedBy>HP</cp:lastModifiedBy>
  <cp:revision>296</cp:revision>
  <cp:lastPrinted>2026-09-03T07:23:26Z</cp:lastPrinted>
  <dcterms:created xsi:type="dcterms:W3CDTF">2013-01-27T03:14:16Z</dcterms:created>
  <dcterms:modified xsi:type="dcterms:W3CDTF">2026-10-15T07:40:27Z</dcterms:modified>
</cp:coreProperties>
</file>